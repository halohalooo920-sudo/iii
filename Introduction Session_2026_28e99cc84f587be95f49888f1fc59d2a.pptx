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sldIdLst>
    <p:sldId id="256" r:id="rId2"/>
    <p:sldId id="301" r:id="rId3"/>
    <p:sldId id="303" r:id="rId4"/>
    <p:sldId id="307" r:id="rId5"/>
    <p:sldId id="315" r:id="rId6"/>
    <p:sldId id="320" r:id="rId7"/>
    <p:sldId id="321" r:id="rId8"/>
    <p:sldId id="322" r:id="rId9"/>
    <p:sldId id="319" r:id="rId10"/>
    <p:sldId id="323" r:id="rId11"/>
    <p:sldId id="324" r:id="rId12"/>
    <p:sldId id="297" r:id="rId13"/>
    <p:sldId id="295" r:id="rId14"/>
    <p:sldId id="300" r:id="rId15"/>
    <p:sldId id="258" r:id="rId16"/>
    <p:sldId id="262" r:id="rId17"/>
    <p:sldId id="263" r:id="rId18"/>
    <p:sldId id="264" r:id="rId19"/>
    <p:sldId id="299" r:id="rId20"/>
    <p:sldId id="275" r:id="rId21"/>
    <p:sldId id="267" r:id="rId22"/>
    <p:sldId id="268" r:id="rId23"/>
    <p:sldId id="260" r:id="rId24"/>
    <p:sldId id="266" r:id="rId25"/>
    <p:sldId id="304" r:id="rId26"/>
    <p:sldId id="309" r:id="rId27"/>
    <p:sldId id="29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7"/>
    <p:restoredTop sz="94659"/>
  </p:normalViewPr>
  <p:slideViewPr>
    <p:cSldViewPr snapToGrid="0" snapToObjects="1">
      <p:cViewPr varScale="1">
        <p:scale>
          <a:sx n="127" d="100"/>
          <a:sy n="127" d="100"/>
        </p:scale>
        <p:origin x="4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73B0CC-C8D2-44D7-AED7-85B6E8089E00}"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CBA7C7C-F528-4499-AA0E-308A3350DC29}">
      <dgm:prSet/>
      <dgm:spPr/>
      <dgm:t>
        <a:bodyPr/>
        <a:lstStyle/>
        <a:p>
          <a:r>
            <a:rPr lang="en-US" dirty="0"/>
            <a:t>1. To receive regular </a:t>
          </a:r>
          <a:r>
            <a:rPr lang="en-US" dirty="0">
              <a:highlight>
                <a:srgbClr val="FFFF00"/>
              </a:highlight>
            </a:rPr>
            <a:t>supervision</a:t>
          </a:r>
        </a:p>
      </dgm:t>
    </dgm:pt>
    <dgm:pt modelId="{7E475EA8-82A6-4734-AC30-D0970F9F272C}" type="parTrans" cxnId="{8AAD263F-7A86-402F-8D04-9A03EB19D621}">
      <dgm:prSet/>
      <dgm:spPr/>
      <dgm:t>
        <a:bodyPr/>
        <a:lstStyle/>
        <a:p>
          <a:endParaRPr lang="en-US"/>
        </a:p>
      </dgm:t>
    </dgm:pt>
    <dgm:pt modelId="{46D9031E-38BE-41BD-9C80-9DF160BC5F4E}" type="sibTrans" cxnId="{8AAD263F-7A86-402F-8D04-9A03EB19D621}">
      <dgm:prSet/>
      <dgm:spPr/>
      <dgm:t>
        <a:bodyPr/>
        <a:lstStyle/>
        <a:p>
          <a:endParaRPr lang="en-US"/>
        </a:p>
      </dgm:t>
    </dgm:pt>
    <dgm:pt modelId="{EA4FAACA-1689-441F-9752-4B8F5A2FFB05}">
      <dgm:prSet/>
      <dgm:spPr/>
      <dgm:t>
        <a:bodyPr/>
        <a:lstStyle/>
        <a:p>
          <a:r>
            <a:rPr lang="en-US" dirty="0"/>
            <a:t>2. To develop </a:t>
          </a:r>
          <a:r>
            <a:rPr lang="en-US" dirty="0">
              <a:highlight>
                <a:srgbClr val="FFFF00"/>
              </a:highlight>
            </a:rPr>
            <a:t>professional competencies </a:t>
          </a:r>
          <a:r>
            <a:rPr lang="en-US" dirty="0"/>
            <a:t>in counselling and group guidance in schools </a:t>
          </a:r>
        </a:p>
      </dgm:t>
    </dgm:pt>
    <dgm:pt modelId="{63058B06-D54C-4C93-A8AB-17E88B112F4E}" type="parTrans" cxnId="{A9201FB1-69A8-462E-A4F3-D21FA9ADDF34}">
      <dgm:prSet/>
      <dgm:spPr/>
      <dgm:t>
        <a:bodyPr/>
        <a:lstStyle/>
        <a:p>
          <a:endParaRPr lang="en-US"/>
        </a:p>
      </dgm:t>
    </dgm:pt>
    <dgm:pt modelId="{A28E8158-D97A-491B-A87F-2654BBD60AB6}" type="sibTrans" cxnId="{A9201FB1-69A8-462E-A4F3-D21FA9ADDF34}">
      <dgm:prSet/>
      <dgm:spPr/>
      <dgm:t>
        <a:bodyPr/>
        <a:lstStyle/>
        <a:p>
          <a:endParaRPr lang="en-US"/>
        </a:p>
      </dgm:t>
    </dgm:pt>
    <dgm:pt modelId="{CC7E101F-ABE6-7942-BB4F-DE6E9894D108}" type="pres">
      <dgm:prSet presAssocID="{4E73B0CC-C8D2-44D7-AED7-85B6E8089E00}" presName="hierChild1" presStyleCnt="0">
        <dgm:presLayoutVars>
          <dgm:chPref val="1"/>
          <dgm:dir/>
          <dgm:animOne val="branch"/>
          <dgm:animLvl val="lvl"/>
          <dgm:resizeHandles/>
        </dgm:presLayoutVars>
      </dgm:prSet>
      <dgm:spPr/>
    </dgm:pt>
    <dgm:pt modelId="{FA57D345-6651-0443-8468-BBFB2A5655A5}" type="pres">
      <dgm:prSet presAssocID="{5CBA7C7C-F528-4499-AA0E-308A3350DC29}" presName="hierRoot1" presStyleCnt="0"/>
      <dgm:spPr/>
    </dgm:pt>
    <dgm:pt modelId="{0F68E681-B478-6F4C-AF31-87E3124266D2}" type="pres">
      <dgm:prSet presAssocID="{5CBA7C7C-F528-4499-AA0E-308A3350DC29}" presName="composite" presStyleCnt="0"/>
      <dgm:spPr/>
    </dgm:pt>
    <dgm:pt modelId="{D594A943-DF8A-CE43-B688-FBD93A3EEAAA}" type="pres">
      <dgm:prSet presAssocID="{5CBA7C7C-F528-4499-AA0E-308A3350DC29}" presName="background" presStyleLbl="node0" presStyleIdx="0" presStyleCnt="2"/>
      <dgm:spPr/>
    </dgm:pt>
    <dgm:pt modelId="{BEEC8D2D-1AE8-C248-9306-2F706E47E259}" type="pres">
      <dgm:prSet presAssocID="{5CBA7C7C-F528-4499-AA0E-308A3350DC29}" presName="text" presStyleLbl="fgAcc0" presStyleIdx="0" presStyleCnt="2">
        <dgm:presLayoutVars>
          <dgm:chPref val="3"/>
        </dgm:presLayoutVars>
      </dgm:prSet>
      <dgm:spPr/>
    </dgm:pt>
    <dgm:pt modelId="{223537E8-F066-8F4D-80FD-B3CE7F6DBF70}" type="pres">
      <dgm:prSet presAssocID="{5CBA7C7C-F528-4499-AA0E-308A3350DC29}" presName="hierChild2" presStyleCnt="0"/>
      <dgm:spPr/>
    </dgm:pt>
    <dgm:pt modelId="{C1E5373A-BA16-5B45-81E4-F5348BFCDCA3}" type="pres">
      <dgm:prSet presAssocID="{EA4FAACA-1689-441F-9752-4B8F5A2FFB05}" presName="hierRoot1" presStyleCnt="0"/>
      <dgm:spPr/>
    </dgm:pt>
    <dgm:pt modelId="{F605D17D-AA63-DC4E-8F6F-36AD099E3C4C}" type="pres">
      <dgm:prSet presAssocID="{EA4FAACA-1689-441F-9752-4B8F5A2FFB05}" presName="composite" presStyleCnt="0"/>
      <dgm:spPr/>
    </dgm:pt>
    <dgm:pt modelId="{85308207-03FD-1246-AF74-0C92CDE05351}" type="pres">
      <dgm:prSet presAssocID="{EA4FAACA-1689-441F-9752-4B8F5A2FFB05}" presName="background" presStyleLbl="node0" presStyleIdx="1" presStyleCnt="2"/>
      <dgm:spPr/>
    </dgm:pt>
    <dgm:pt modelId="{1B7BA49F-72F7-9340-BDF4-3AC88AA9B17C}" type="pres">
      <dgm:prSet presAssocID="{EA4FAACA-1689-441F-9752-4B8F5A2FFB05}" presName="text" presStyleLbl="fgAcc0" presStyleIdx="1" presStyleCnt="2">
        <dgm:presLayoutVars>
          <dgm:chPref val="3"/>
        </dgm:presLayoutVars>
      </dgm:prSet>
      <dgm:spPr/>
    </dgm:pt>
    <dgm:pt modelId="{809ADFC0-A673-6344-BE0A-2CAA156CCA1B}" type="pres">
      <dgm:prSet presAssocID="{EA4FAACA-1689-441F-9752-4B8F5A2FFB05}" presName="hierChild2" presStyleCnt="0"/>
      <dgm:spPr/>
    </dgm:pt>
  </dgm:ptLst>
  <dgm:cxnLst>
    <dgm:cxn modelId="{8AAD263F-7A86-402F-8D04-9A03EB19D621}" srcId="{4E73B0CC-C8D2-44D7-AED7-85B6E8089E00}" destId="{5CBA7C7C-F528-4499-AA0E-308A3350DC29}" srcOrd="0" destOrd="0" parTransId="{7E475EA8-82A6-4734-AC30-D0970F9F272C}" sibTransId="{46D9031E-38BE-41BD-9C80-9DF160BC5F4E}"/>
    <dgm:cxn modelId="{BF579F42-A02C-2F45-A0F4-507E61016AF5}" type="presOf" srcId="{4E73B0CC-C8D2-44D7-AED7-85B6E8089E00}" destId="{CC7E101F-ABE6-7942-BB4F-DE6E9894D108}" srcOrd="0" destOrd="0" presId="urn:microsoft.com/office/officeart/2005/8/layout/hierarchy1"/>
    <dgm:cxn modelId="{A9201FB1-69A8-462E-A4F3-D21FA9ADDF34}" srcId="{4E73B0CC-C8D2-44D7-AED7-85B6E8089E00}" destId="{EA4FAACA-1689-441F-9752-4B8F5A2FFB05}" srcOrd="1" destOrd="0" parTransId="{63058B06-D54C-4C93-A8AB-17E88B112F4E}" sibTransId="{A28E8158-D97A-491B-A87F-2654BBD60AB6}"/>
    <dgm:cxn modelId="{89690BE4-F54F-AF43-9BB8-39D911C89D01}" type="presOf" srcId="{5CBA7C7C-F528-4499-AA0E-308A3350DC29}" destId="{BEEC8D2D-1AE8-C248-9306-2F706E47E259}" srcOrd="0" destOrd="0" presId="urn:microsoft.com/office/officeart/2005/8/layout/hierarchy1"/>
    <dgm:cxn modelId="{7DDEB6F5-76BD-824A-815D-114240B6D427}" type="presOf" srcId="{EA4FAACA-1689-441F-9752-4B8F5A2FFB05}" destId="{1B7BA49F-72F7-9340-BDF4-3AC88AA9B17C}" srcOrd="0" destOrd="0" presId="urn:microsoft.com/office/officeart/2005/8/layout/hierarchy1"/>
    <dgm:cxn modelId="{CE36860A-FCE3-D74E-A392-59A19D7E2FFF}" type="presParOf" srcId="{CC7E101F-ABE6-7942-BB4F-DE6E9894D108}" destId="{FA57D345-6651-0443-8468-BBFB2A5655A5}" srcOrd="0" destOrd="0" presId="urn:microsoft.com/office/officeart/2005/8/layout/hierarchy1"/>
    <dgm:cxn modelId="{A4E3F450-4A04-4B45-936F-4C1B64041041}" type="presParOf" srcId="{FA57D345-6651-0443-8468-BBFB2A5655A5}" destId="{0F68E681-B478-6F4C-AF31-87E3124266D2}" srcOrd="0" destOrd="0" presId="urn:microsoft.com/office/officeart/2005/8/layout/hierarchy1"/>
    <dgm:cxn modelId="{6563AF6C-85D9-6D41-8710-9260981F3D05}" type="presParOf" srcId="{0F68E681-B478-6F4C-AF31-87E3124266D2}" destId="{D594A943-DF8A-CE43-B688-FBD93A3EEAAA}" srcOrd="0" destOrd="0" presId="urn:microsoft.com/office/officeart/2005/8/layout/hierarchy1"/>
    <dgm:cxn modelId="{03BCFF4A-3682-7844-BC84-4E7A7AF80EDE}" type="presParOf" srcId="{0F68E681-B478-6F4C-AF31-87E3124266D2}" destId="{BEEC8D2D-1AE8-C248-9306-2F706E47E259}" srcOrd="1" destOrd="0" presId="urn:microsoft.com/office/officeart/2005/8/layout/hierarchy1"/>
    <dgm:cxn modelId="{6B2EBA2C-FF33-994E-BBF9-FD51D97EE7AB}" type="presParOf" srcId="{FA57D345-6651-0443-8468-BBFB2A5655A5}" destId="{223537E8-F066-8F4D-80FD-B3CE7F6DBF70}" srcOrd="1" destOrd="0" presId="urn:microsoft.com/office/officeart/2005/8/layout/hierarchy1"/>
    <dgm:cxn modelId="{E428B6F9-F1C4-1044-9427-5599E36C166C}" type="presParOf" srcId="{CC7E101F-ABE6-7942-BB4F-DE6E9894D108}" destId="{C1E5373A-BA16-5B45-81E4-F5348BFCDCA3}" srcOrd="1" destOrd="0" presId="urn:microsoft.com/office/officeart/2005/8/layout/hierarchy1"/>
    <dgm:cxn modelId="{4286A7BF-50EF-7B4E-838E-8A4839652564}" type="presParOf" srcId="{C1E5373A-BA16-5B45-81E4-F5348BFCDCA3}" destId="{F605D17D-AA63-DC4E-8F6F-36AD099E3C4C}" srcOrd="0" destOrd="0" presId="urn:microsoft.com/office/officeart/2005/8/layout/hierarchy1"/>
    <dgm:cxn modelId="{6A86451F-E934-A24D-B16A-FB76E6522699}" type="presParOf" srcId="{F605D17D-AA63-DC4E-8F6F-36AD099E3C4C}" destId="{85308207-03FD-1246-AF74-0C92CDE05351}" srcOrd="0" destOrd="0" presId="urn:microsoft.com/office/officeart/2005/8/layout/hierarchy1"/>
    <dgm:cxn modelId="{7CB5BD2B-AF2A-3A47-B188-A3126428B922}" type="presParOf" srcId="{F605D17D-AA63-DC4E-8F6F-36AD099E3C4C}" destId="{1B7BA49F-72F7-9340-BDF4-3AC88AA9B17C}" srcOrd="1" destOrd="0" presId="urn:microsoft.com/office/officeart/2005/8/layout/hierarchy1"/>
    <dgm:cxn modelId="{4DBFF773-52EE-E247-8960-EBBAB9A11B96}" type="presParOf" srcId="{C1E5373A-BA16-5B45-81E4-F5348BFCDCA3}" destId="{809ADFC0-A673-6344-BE0A-2CAA156CCA1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4A943-DF8A-CE43-B688-FBD93A3EEAAA}">
      <dsp:nvSpPr>
        <dsp:cNvPr id="0" name=""/>
        <dsp:cNvSpPr/>
      </dsp:nvSpPr>
      <dsp:spPr>
        <a:xfrm>
          <a:off x="497283" y="1196"/>
          <a:ext cx="4080443" cy="25910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EC8D2D-1AE8-C248-9306-2F706E47E259}">
      <dsp:nvSpPr>
        <dsp:cNvPr id="0" name=""/>
        <dsp:cNvSpPr/>
      </dsp:nvSpPr>
      <dsp:spPr>
        <a:xfrm>
          <a:off x="950665" y="431910"/>
          <a:ext cx="4080443" cy="259108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1. To receive regular </a:t>
          </a:r>
          <a:r>
            <a:rPr lang="en-US" sz="2800" kern="1200" dirty="0">
              <a:highlight>
                <a:srgbClr val="FFFF00"/>
              </a:highlight>
            </a:rPr>
            <a:t>supervision</a:t>
          </a:r>
        </a:p>
      </dsp:txBody>
      <dsp:txXfrm>
        <a:off x="1026555" y="507800"/>
        <a:ext cx="3928663" cy="2439301"/>
      </dsp:txXfrm>
    </dsp:sp>
    <dsp:sp modelId="{85308207-03FD-1246-AF74-0C92CDE05351}">
      <dsp:nvSpPr>
        <dsp:cNvPr id="0" name=""/>
        <dsp:cNvSpPr/>
      </dsp:nvSpPr>
      <dsp:spPr>
        <a:xfrm>
          <a:off x="5484491" y="1196"/>
          <a:ext cx="4080443" cy="25910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7BA49F-72F7-9340-BDF4-3AC88AA9B17C}">
      <dsp:nvSpPr>
        <dsp:cNvPr id="0" name=""/>
        <dsp:cNvSpPr/>
      </dsp:nvSpPr>
      <dsp:spPr>
        <a:xfrm>
          <a:off x="5937873" y="431910"/>
          <a:ext cx="4080443" cy="259108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2. To develop </a:t>
          </a:r>
          <a:r>
            <a:rPr lang="en-US" sz="2800" kern="1200" dirty="0">
              <a:highlight>
                <a:srgbClr val="FFFF00"/>
              </a:highlight>
            </a:rPr>
            <a:t>professional competencies </a:t>
          </a:r>
          <a:r>
            <a:rPr lang="en-US" sz="2800" kern="1200" dirty="0"/>
            <a:t>in counselling and group guidance in schools </a:t>
          </a:r>
        </a:p>
      </dsp:txBody>
      <dsp:txXfrm>
        <a:off x="6013763" y="507800"/>
        <a:ext cx="3928663" cy="243930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007804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8967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linds(horizontal)">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2">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3">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4">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5">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594330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14769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68338"/>
            <a:ext cx="10515600" cy="10842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8800"/>
            <a:ext cx="5157787"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743199"/>
            <a:ext cx="5157787" cy="34464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8800"/>
            <a:ext cx="5183188"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743199"/>
            <a:ext cx="5183188" cy="344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73534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193361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720000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886362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55643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27485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761999"/>
            <a:ext cx="2628900" cy="54149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761999"/>
            <a:ext cx="7734300" cy="541496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AA70F276-1833-4A75-9C1D-A56E2295A68D}" type="datetimeFigureOut">
              <a:rPr lang="en-US" smtClean="0"/>
              <a:t>5/4/26</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09310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AA70F276-1833-4A75-9C1D-A56E2295A68D}" type="datetimeFigureOut">
              <a:rPr lang="en-US" smtClean="0"/>
              <a:pPr/>
              <a:t>5/4/26</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400669620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mailto:fwywong@hku.hk"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apcpa.com.hk/" TargetMode="External"/><Relationship Id="rId2" Type="http://schemas.openxmlformats.org/officeDocument/2006/relationships/hyperlink" Target="https://www.hkpca.org.hk/" TargetMode="External"/><Relationship Id="rId1" Type="http://schemas.openxmlformats.org/officeDocument/2006/relationships/slideLayout" Target="../slideLayouts/slideLayout2.xml"/><Relationship Id="rId4" Type="http://schemas.openxmlformats.org/officeDocument/2006/relationships/hyperlink" Target="https://www.counseling.org/"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5" name="Picture 4" descr="A close-up of hands touching a flower&#10;&#10;Description automatically generated">
            <a:extLst>
              <a:ext uri="{FF2B5EF4-FFF2-40B4-BE49-F238E27FC236}">
                <a16:creationId xmlns:a16="http://schemas.microsoft.com/office/drawing/2014/main" id="{97D82A17-2D74-9F80-134F-5B1A0396800F}"/>
              </a:ext>
            </a:extLst>
          </p:cNvPr>
          <p:cNvPicPr>
            <a:picLocks noChangeAspect="1"/>
          </p:cNvPicPr>
          <p:nvPr/>
        </p:nvPicPr>
        <p:blipFill rotWithShape="1">
          <a:blip r:embed="rId2"/>
          <a:srcRect t="15730"/>
          <a:stretch/>
        </p:blipFill>
        <p:spPr>
          <a:xfrm>
            <a:off x="20" y="11"/>
            <a:ext cx="12191980" cy="6857989"/>
          </a:xfrm>
          <a:prstGeom prst="rect">
            <a:avLst/>
          </a:prstGeom>
        </p:spPr>
      </p:pic>
      <p:sp>
        <p:nvSpPr>
          <p:cNvPr id="52" name="Rectangle 51">
            <a:extLst>
              <a:ext uri="{FF2B5EF4-FFF2-40B4-BE49-F238E27FC236}">
                <a16:creationId xmlns:a16="http://schemas.microsoft.com/office/drawing/2014/main" id="{F1195305-FB27-4331-8243-C4D3338DC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0" y="0"/>
            <a:ext cx="6858000" cy="6858000"/>
          </a:xfrm>
          <a:prstGeom prst="rect">
            <a:avLst/>
          </a:prstGeom>
          <a:gradFill>
            <a:gsLst>
              <a:gs pos="100000">
                <a:schemeClr val="tx1">
                  <a:alpha val="0"/>
                </a:schemeClr>
              </a:gs>
              <a:gs pos="0">
                <a:schemeClr val="tx1"/>
              </a:gs>
              <a:gs pos="0">
                <a:schemeClr val="tx1">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標題 1">
            <a:extLst>
              <a:ext uri="{FF2B5EF4-FFF2-40B4-BE49-F238E27FC236}">
                <a16:creationId xmlns:a16="http://schemas.microsoft.com/office/drawing/2014/main" id="{D6659B6E-A982-DF4B-AE8B-8B4E48E517BA}"/>
              </a:ext>
            </a:extLst>
          </p:cNvPr>
          <p:cNvSpPr>
            <a:spLocks noGrp="1"/>
          </p:cNvSpPr>
          <p:nvPr>
            <p:ph type="ctrTitle"/>
          </p:nvPr>
        </p:nvSpPr>
        <p:spPr>
          <a:xfrm>
            <a:off x="537410" y="728905"/>
            <a:ext cx="4567990" cy="3184274"/>
          </a:xfrm>
        </p:spPr>
        <p:txBody>
          <a:bodyPr>
            <a:normAutofit/>
          </a:bodyPr>
          <a:lstStyle/>
          <a:p>
            <a:pPr algn="l"/>
            <a:r>
              <a:rPr lang="en-US" sz="3400" dirty="0">
                <a:solidFill>
                  <a:srgbClr val="FFFFFF"/>
                </a:solidFill>
                <a:latin typeface="Times New Roman" charset="0"/>
                <a:ea typeface="Times New Roman" charset="0"/>
                <a:cs typeface="Times New Roman" charset="0"/>
              </a:rPr>
              <a:t>MEDD8602 </a:t>
            </a:r>
            <a:br>
              <a:rPr lang="en-US" sz="3400" dirty="0">
                <a:solidFill>
                  <a:srgbClr val="FFFFFF"/>
                </a:solidFill>
                <a:latin typeface="Times New Roman" charset="0"/>
                <a:ea typeface="Times New Roman" charset="0"/>
                <a:cs typeface="Times New Roman" charset="0"/>
              </a:rPr>
            </a:br>
            <a:r>
              <a:rPr lang="en-US" sz="3400" dirty="0">
                <a:solidFill>
                  <a:srgbClr val="FFFFFF"/>
                </a:solidFill>
                <a:latin typeface="Times New Roman" charset="0"/>
                <a:ea typeface="Times New Roman" charset="0"/>
                <a:cs typeface="Times New Roman" charset="0"/>
              </a:rPr>
              <a:t>Practicum in Counselling and </a:t>
            </a:r>
            <a:br>
              <a:rPr lang="en-US" sz="3400" dirty="0">
                <a:solidFill>
                  <a:srgbClr val="FFFFFF"/>
                </a:solidFill>
                <a:latin typeface="Times New Roman" charset="0"/>
                <a:ea typeface="Times New Roman" charset="0"/>
                <a:cs typeface="Times New Roman" charset="0"/>
              </a:rPr>
            </a:br>
            <a:r>
              <a:rPr lang="en-US" sz="3400" dirty="0">
                <a:solidFill>
                  <a:srgbClr val="FFFFFF"/>
                </a:solidFill>
                <a:latin typeface="Times New Roman" charset="0"/>
                <a:ea typeface="Times New Roman" charset="0"/>
                <a:cs typeface="Times New Roman" charset="0"/>
              </a:rPr>
              <a:t>Group Guidance</a:t>
            </a:r>
            <a:br>
              <a:rPr lang="en-US" sz="3400" dirty="0">
                <a:solidFill>
                  <a:srgbClr val="FFFFFF"/>
                </a:solidFill>
                <a:latin typeface="Times New Roman" charset="0"/>
                <a:ea typeface="Times New Roman" charset="0"/>
                <a:cs typeface="Times New Roman" charset="0"/>
              </a:rPr>
            </a:br>
            <a:br>
              <a:rPr lang="en-US" sz="3400" dirty="0">
                <a:solidFill>
                  <a:srgbClr val="FFFFFF"/>
                </a:solidFill>
                <a:latin typeface="Times New Roman" charset="0"/>
                <a:ea typeface="Times New Roman" charset="0"/>
                <a:cs typeface="Times New Roman" charset="0"/>
              </a:rPr>
            </a:br>
            <a:r>
              <a:rPr lang="en-US" sz="3400" dirty="0">
                <a:solidFill>
                  <a:srgbClr val="FFFFFF"/>
                </a:solidFill>
                <a:latin typeface="Times New Roman" charset="0"/>
                <a:ea typeface="Times New Roman" charset="0"/>
                <a:cs typeface="Times New Roman" charset="0"/>
              </a:rPr>
              <a:t>Introductory Meeting</a:t>
            </a:r>
          </a:p>
        </p:txBody>
      </p:sp>
    </p:spTree>
    <p:extLst>
      <p:ext uri="{BB962C8B-B14F-4D97-AF65-F5344CB8AC3E}">
        <p14:creationId xmlns:p14="http://schemas.microsoft.com/office/powerpoint/2010/main" val="398357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yellow emojis on a chalkboard&#10;&#10;Description automatically generated">
            <a:extLst>
              <a:ext uri="{FF2B5EF4-FFF2-40B4-BE49-F238E27FC236}">
                <a16:creationId xmlns:a16="http://schemas.microsoft.com/office/drawing/2014/main" id="{C61F4023-D291-8488-6FA7-15628BDFFE4A}"/>
              </a:ext>
            </a:extLst>
          </p:cNvPr>
          <p:cNvPicPr>
            <a:picLocks noChangeAspect="1"/>
          </p:cNvPicPr>
          <p:nvPr/>
        </p:nvPicPr>
        <p:blipFill>
          <a:blip r:embed="rId2"/>
          <a:stretch>
            <a:fillRect/>
          </a:stretch>
        </p:blipFill>
        <p:spPr>
          <a:xfrm>
            <a:off x="2209800" y="769821"/>
            <a:ext cx="7772400" cy="5318357"/>
          </a:xfrm>
          <a:prstGeom prst="rect">
            <a:avLst/>
          </a:prstGeom>
        </p:spPr>
      </p:pic>
    </p:spTree>
    <p:extLst>
      <p:ext uri="{BB962C8B-B14F-4D97-AF65-F5344CB8AC3E}">
        <p14:creationId xmlns:p14="http://schemas.microsoft.com/office/powerpoint/2010/main" val="4241878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C31099-1BBD-40CE-BC60-FCE5074194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BCBDFC-4ADF-4297-B113-3B3F524F2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D1FC1EF-ABB9-4B80-9582-E47C76BD0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3200" y="0"/>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088ED32-3423-429F-96E6-C5BF1A957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3990" y="1194074"/>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7C788C1-07E3-4AC3-B8E7-37A0856A0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39622" y="194269"/>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501D987A-A18A-DC55-2ECD-E7083A44B07D}"/>
              </a:ext>
            </a:extLst>
          </p:cNvPr>
          <p:cNvPicPr>
            <a:picLocks noChangeAspect="1"/>
          </p:cNvPicPr>
          <p:nvPr/>
        </p:nvPicPr>
        <p:blipFill rotWithShape="1">
          <a:blip r:embed="rId2">
            <a:alphaModFix amt="20000"/>
          </a:blip>
          <a:srcRect t="25662" r="-1" b="18078"/>
          <a:stretch/>
        </p:blipFill>
        <p:spPr>
          <a:xfrm>
            <a:off x="20" y="10"/>
            <a:ext cx="12188932" cy="6857326"/>
          </a:xfrm>
          <a:prstGeom prst="rect">
            <a:avLst/>
          </a:prstGeom>
        </p:spPr>
      </p:pic>
      <p:sp>
        <p:nvSpPr>
          <p:cNvPr id="21" name="Frame 20">
            <a:extLst>
              <a:ext uri="{FF2B5EF4-FFF2-40B4-BE49-F238E27FC236}">
                <a16:creationId xmlns:a16="http://schemas.microsoft.com/office/drawing/2014/main" id="{BBB1F149-105F-4CE9-A59E-12133DCF5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4"/>
            <a:ext cx="12188952" cy="6858664"/>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58DE090-83E3-4BDD-0269-C4291312A32D}"/>
              </a:ext>
            </a:extLst>
          </p:cNvPr>
          <p:cNvSpPr>
            <a:spLocks noGrp="1"/>
          </p:cNvSpPr>
          <p:nvPr>
            <p:ph type="ctrTitle"/>
          </p:nvPr>
        </p:nvSpPr>
        <p:spPr>
          <a:xfrm>
            <a:off x="1522475" y="2157327"/>
            <a:ext cx="9144000" cy="2387600"/>
          </a:xfrm>
        </p:spPr>
        <p:txBody>
          <a:bodyPr>
            <a:normAutofit/>
          </a:bodyPr>
          <a:lstStyle/>
          <a:p>
            <a:r>
              <a:rPr lang="en-US" dirty="0">
                <a:solidFill>
                  <a:srgbClr val="FFFFFF"/>
                </a:solidFill>
              </a:rPr>
              <a:t>Greetings from your teachers</a:t>
            </a:r>
          </a:p>
        </p:txBody>
      </p:sp>
      <p:pic>
        <p:nvPicPr>
          <p:cNvPr id="6" name="Picture 5" descr="A yellow emoji with a heart on it&#10;&#10;Description automatically generated">
            <a:extLst>
              <a:ext uri="{FF2B5EF4-FFF2-40B4-BE49-F238E27FC236}">
                <a16:creationId xmlns:a16="http://schemas.microsoft.com/office/drawing/2014/main" id="{09B53820-DBFC-EF1D-18D6-6BBAB8F3A11E}"/>
              </a:ext>
            </a:extLst>
          </p:cNvPr>
          <p:cNvPicPr>
            <a:picLocks noChangeAspect="1"/>
          </p:cNvPicPr>
          <p:nvPr/>
        </p:nvPicPr>
        <p:blipFill>
          <a:blip r:embed="rId3"/>
          <a:stretch>
            <a:fillRect/>
          </a:stretch>
        </p:blipFill>
        <p:spPr>
          <a:xfrm>
            <a:off x="5725391" y="1321131"/>
            <a:ext cx="1944166" cy="1956394"/>
          </a:xfrm>
          <a:prstGeom prst="rect">
            <a:avLst/>
          </a:prstGeom>
        </p:spPr>
      </p:pic>
    </p:spTree>
    <p:extLst>
      <p:ext uri="{BB962C8B-B14F-4D97-AF65-F5344CB8AC3E}">
        <p14:creationId xmlns:p14="http://schemas.microsoft.com/office/powerpoint/2010/main" val="383073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64F77-70EF-66FF-4CAF-EF46FDFC2954}"/>
              </a:ext>
            </a:extLst>
          </p:cNvPr>
          <p:cNvSpPr>
            <a:spLocks noGrp="1"/>
          </p:cNvSpPr>
          <p:nvPr>
            <p:ph idx="1"/>
          </p:nvPr>
        </p:nvSpPr>
        <p:spPr>
          <a:xfrm>
            <a:off x="1161143" y="1792609"/>
            <a:ext cx="10207171" cy="3272782"/>
          </a:xfrm>
        </p:spPr>
        <p:txBody>
          <a:bodyPr/>
          <a:lstStyle/>
          <a:p>
            <a:pPr>
              <a:buClr>
                <a:schemeClr val="tx2">
                  <a:lumMod val="50000"/>
                  <a:lumOff val="50000"/>
                </a:schemeClr>
              </a:buClr>
            </a:pPr>
            <a:r>
              <a:rPr lang="en-US" dirty="0"/>
              <a:t>Ms. Hillary Seto (teaching venue: MW531)</a:t>
            </a:r>
          </a:p>
          <a:p>
            <a:pPr>
              <a:buClr>
                <a:schemeClr val="tx2">
                  <a:lumMod val="50000"/>
                  <a:lumOff val="50000"/>
                </a:schemeClr>
              </a:buClr>
            </a:pPr>
            <a:r>
              <a:rPr lang="en-US" dirty="0"/>
              <a:t>Mr. Keith Pang (teaching venue: MW550)</a:t>
            </a:r>
          </a:p>
          <a:p>
            <a:pPr>
              <a:buClr>
                <a:schemeClr val="tx2">
                  <a:lumMod val="50000"/>
                  <a:lumOff val="50000"/>
                </a:schemeClr>
              </a:buClr>
            </a:pPr>
            <a:r>
              <a:rPr lang="en-US" dirty="0"/>
              <a:t>Dr. Peter Shea (teaching venue: MW549)</a:t>
            </a:r>
          </a:p>
          <a:p>
            <a:pPr>
              <a:buClr>
                <a:schemeClr val="tx2">
                  <a:lumMod val="50000"/>
                  <a:lumOff val="50000"/>
                </a:schemeClr>
              </a:buClr>
            </a:pPr>
            <a:r>
              <a:rPr lang="en-US" dirty="0"/>
              <a:t>Dr. Matthew Chu (teaching venue: MW526)</a:t>
            </a:r>
          </a:p>
          <a:p>
            <a:pPr>
              <a:buClr>
                <a:schemeClr val="tx2">
                  <a:lumMod val="50000"/>
                  <a:lumOff val="50000"/>
                </a:schemeClr>
              </a:buClr>
            </a:pPr>
            <a:r>
              <a:rPr lang="en-US" dirty="0"/>
              <a:t>Dr. Queenie Lee (teaching venue: MW505)</a:t>
            </a:r>
          </a:p>
        </p:txBody>
      </p:sp>
    </p:spTree>
    <p:extLst>
      <p:ext uri="{BB962C8B-B14F-4D97-AF65-F5344CB8AC3E}">
        <p14:creationId xmlns:p14="http://schemas.microsoft.com/office/powerpoint/2010/main" val="78038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16" name="Picture 15" descr="Colourful carved figures of humans">
            <a:extLst>
              <a:ext uri="{FF2B5EF4-FFF2-40B4-BE49-F238E27FC236}">
                <a16:creationId xmlns:a16="http://schemas.microsoft.com/office/drawing/2014/main" id="{3305D3EC-AEEC-EF98-3E9D-033715035670}"/>
              </a:ext>
            </a:extLst>
          </p:cNvPr>
          <p:cNvPicPr>
            <a:picLocks noChangeAspect="1"/>
          </p:cNvPicPr>
          <p:nvPr/>
        </p:nvPicPr>
        <p:blipFill rotWithShape="1">
          <a:blip r:embed="rId2"/>
          <a:srcRect t="21053"/>
          <a:stretch/>
        </p:blipFill>
        <p:spPr>
          <a:xfrm>
            <a:off x="20" y="10"/>
            <a:ext cx="12191980" cy="6857989"/>
          </a:xfrm>
          <a:prstGeom prst="rect">
            <a:avLst/>
          </a:prstGeom>
        </p:spPr>
      </p:pic>
      <p:sp>
        <p:nvSpPr>
          <p:cNvPr id="17" name="Rectangle 16">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B0855E5-8052-503F-7A27-3889D7364D8D}"/>
              </a:ext>
            </a:extLst>
          </p:cNvPr>
          <p:cNvSpPr>
            <a:spLocks noGrp="1"/>
          </p:cNvSpPr>
          <p:nvPr>
            <p:ph type="ctrTitle"/>
          </p:nvPr>
        </p:nvSpPr>
        <p:spPr>
          <a:xfrm>
            <a:off x="1524000" y="3220947"/>
            <a:ext cx="9144000" cy="2940679"/>
          </a:xfrm>
        </p:spPr>
        <p:txBody>
          <a:bodyPr anchor="t">
            <a:normAutofit/>
          </a:bodyPr>
          <a:lstStyle/>
          <a:p>
            <a:r>
              <a:rPr lang="en-US">
                <a:solidFill>
                  <a:srgbClr val="FFFFFF"/>
                </a:solidFill>
              </a:rPr>
              <a:t>The Supervision Groups</a:t>
            </a:r>
          </a:p>
        </p:txBody>
      </p:sp>
    </p:spTree>
    <p:extLst>
      <p:ext uri="{BB962C8B-B14F-4D97-AF65-F5344CB8AC3E}">
        <p14:creationId xmlns:p14="http://schemas.microsoft.com/office/powerpoint/2010/main" val="413373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28D2F-BE26-4AF5-6A23-9EC35E0FEF7F}"/>
              </a:ext>
            </a:extLst>
          </p:cNvPr>
          <p:cNvSpPr>
            <a:spLocks noGrp="1"/>
          </p:cNvSpPr>
          <p:nvPr>
            <p:ph type="title"/>
          </p:nvPr>
        </p:nvSpPr>
        <p:spPr/>
        <p:txBody>
          <a:bodyPr/>
          <a:lstStyle/>
          <a:p>
            <a:r>
              <a:rPr lang="en-US" dirty="0"/>
              <a:t>Ms. Hillary Seto</a:t>
            </a:r>
          </a:p>
        </p:txBody>
      </p:sp>
      <p:sp>
        <p:nvSpPr>
          <p:cNvPr id="3" name="Content Placeholder 2">
            <a:extLst>
              <a:ext uri="{FF2B5EF4-FFF2-40B4-BE49-F238E27FC236}">
                <a16:creationId xmlns:a16="http://schemas.microsoft.com/office/drawing/2014/main" id="{9289BF45-A96E-8922-D70B-1017341D6326}"/>
              </a:ext>
            </a:extLst>
          </p:cNvPr>
          <p:cNvSpPr>
            <a:spLocks noGrp="1"/>
          </p:cNvSpPr>
          <p:nvPr>
            <p:ph idx="1"/>
          </p:nvPr>
        </p:nvSpPr>
        <p:spPr/>
        <p:txBody>
          <a:bodyPr>
            <a:normAutofit/>
          </a:bodyPr>
          <a:lstStyle/>
          <a:p>
            <a:pPr lvl="0"/>
            <a:r>
              <a:rPr lang="en-HK" dirty="0"/>
              <a:t>CHEUNG Pui Wing </a:t>
            </a:r>
          </a:p>
          <a:p>
            <a:pPr lvl="0"/>
            <a:r>
              <a:rPr lang="en-HK" dirty="0"/>
              <a:t>DENG </a:t>
            </a:r>
            <a:r>
              <a:rPr lang="en-HK" dirty="0" err="1"/>
              <a:t>Ruiwen</a:t>
            </a:r>
            <a:r>
              <a:rPr lang="en-HK" dirty="0"/>
              <a:t> </a:t>
            </a:r>
          </a:p>
          <a:p>
            <a:pPr lvl="0"/>
            <a:r>
              <a:rPr lang="en-HK" dirty="0"/>
              <a:t>LAU Ming Tak </a:t>
            </a:r>
          </a:p>
          <a:p>
            <a:pPr lvl="0"/>
            <a:r>
              <a:rPr lang="en-HK" dirty="0"/>
              <a:t>LEUNG Hoi Man </a:t>
            </a:r>
          </a:p>
          <a:p>
            <a:pPr lvl="0"/>
            <a:r>
              <a:rPr lang="en-HK" dirty="0"/>
              <a:t>MOK Judy Wing Man </a:t>
            </a:r>
          </a:p>
          <a:p>
            <a:pPr lvl="0"/>
            <a:r>
              <a:rPr lang="en-HK" dirty="0"/>
              <a:t>WEN Rong</a:t>
            </a:r>
            <a:endParaRPr lang="en-US" dirty="0"/>
          </a:p>
        </p:txBody>
      </p:sp>
    </p:spTree>
    <p:extLst>
      <p:ext uri="{BB962C8B-B14F-4D97-AF65-F5344CB8AC3E}">
        <p14:creationId xmlns:p14="http://schemas.microsoft.com/office/powerpoint/2010/main" val="1200761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988CC-8F0D-FFEB-243F-C66F6142150F}"/>
              </a:ext>
            </a:extLst>
          </p:cNvPr>
          <p:cNvSpPr>
            <a:spLocks noGrp="1"/>
          </p:cNvSpPr>
          <p:nvPr>
            <p:ph type="title"/>
          </p:nvPr>
        </p:nvSpPr>
        <p:spPr/>
        <p:txBody>
          <a:bodyPr/>
          <a:lstStyle/>
          <a:p>
            <a:r>
              <a:rPr lang="en-US" dirty="0"/>
              <a:t>Mr. Keith Pang</a:t>
            </a:r>
          </a:p>
        </p:txBody>
      </p:sp>
      <p:sp>
        <p:nvSpPr>
          <p:cNvPr id="3" name="Content Placeholder 2">
            <a:extLst>
              <a:ext uri="{FF2B5EF4-FFF2-40B4-BE49-F238E27FC236}">
                <a16:creationId xmlns:a16="http://schemas.microsoft.com/office/drawing/2014/main" id="{20B96A20-D732-7A04-5B4A-BE76A547FE13}"/>
              </a:ext>
            </a:extLst>
          </p:cNvPr>
          <p:cNvSpPr>
            <a:spLocks noGrp="1"/>
          </p:cNvSpPr>
          <p:nvPr>
            <p:ph idx="1"/>
          </p:nvPr>
        </p:nvSpPr>
        <p:spPr/>
        <p:txBody>
          <a:bodyPr/>
          <a:lstStyle/>
          <a:p>
            <a:pPr lvl="0"/>
            <a:r>
              <a:rPr lang="en-HK" dirty="0"/>
              <a:t>CHEUNG Yuk Yuen </a:t>
            </a:r>
          </a:p>
          <a:p>
            <a:pPr lvl="0"/>
            <a:r>
              <a:rPr lang="en-HK" dirty="0"/>
              <a:t>HUA </a:t>
            </a:r>
            <a:r>
              <a:rPr lang="en-HK" dirty="0" err="1"/>
              <a:t>Beiyue</a:t>
            </a:r>
            <a:r>
              <a:rPr lang="en-HK" dirty="0"/>
              <a:t> </a:t>
            </a:r>
          </a:p>
          <a:p>
            <a:pPr lvl="0"/>
            <a:r>
              <a:rPr lang="en-HK" dirty="0"/>
              <a:t>LEE Yik Hang</a:t>
            </a:r>
          </a:p>
          <a:p>
            <a:pPr lvl="0"/>
            <a:r>
              <a:rPr lang="en-HK" dirty="0"/>
              <a:t>LUO </a:t>
            </a:r>
            <a:r>
              <a:rPr lang="en-HK" dirty="0" err="1"/>
              <a:t>Yujia</a:t>
            </a:r>
            <a:endParaRPr lang="en-HK" dirty="0"/>
          </a:p>
          <a:p>
            <a:pPr lvl="0"/>
            <a:r>
              <a:rPr lang="en-HK" dirty="0"/>
              <a:t>WU Yiran</a:t>
            </a:r>
          </a:p>
          <a:p>
            <a:pPr lvl="0"/>
            <a:r>
              <a:rPr lang="en-HK" dirty="0"/>
              <a:t>WU </a:t>
            </a:r>
            <a:r>
              <a:rPr lang="en-HK" dirty="0" err="1"/>
              <a:t>Kexuan</a:t>
            </a:r>
            <a:endParaRPr lang="en-HK" dirty="0"/>
          </a:p>
          <a:p>
            <a:endParaRPr lang="en-US" dirty="0"/>
          </a:p>
        </p:txBody>
      </p:sp>
    </p:spTree>
    <p:extLst>
      <p:ext uri="{BB962C8B-B14F-4D97-AF65-F5344CB8AC3E}">
        <p14:creationId xmlns:p14="http://schemas.microsoft.com/office/powerpoint/2010/main" val="4155543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821E-20B5-197E-E649-72BC39E4A662}"/>
              </a:ext>
            </a:extLst>
          </p:cNvPr>
          <p:cNvSpPr>
            <a:spLocks noGrp="1"/>
          </p:cNvSpPr>
          <p:nvPr>
            <p:ph type="title"/>
          </p:nvPr>
        </p:nvSpPr>
        <p:spPr/>
        <p:txBody>
          <a:bodyPr/>
          <a:lstStyle/>
          <a:p>
            <a:r>
              <a:rPr lang="en-US" dirty="0"/>
              <a:t>Dr. Peter Shea</a:t>
            </a:r>
          </a:p>
        </p:txBody>
      </p:sp>
      <p:sp>
        <p:nvSpPr>
          <p:cNvPr id="3" name="Content Placeholder 2">
            <a:extLst>
              <a:ext uri="{FF2B5EF4-FFF2-40B4-BE49-F238E27FC236}">
                <a16:creationId xmlns:a16="http://schemas.microsoft.com/office/drawing/2014/main" id="{F6541807-958B-01C4-2C33-09FC3702243E}"/>
              </a:ext>
            </a:extLst>
          </p:cNvPr>
          <p:cNvSpPr>
            <a:spLocks noGrp="1"/>
          </p:cNvSpPr>
          <p:nvPr>
            <p:ph idx="1"/>
          </p:nvPr>
        </p:nvSpPr>
        <p:spPr/>
        <p:txBody>
          <a:bodyPr/>
          <a:lstStyle/>
          <a:p>
            <a:pPr lvl="0"/>
            <a:r>
              <a:rPr lang="en-HK" dirty="0"/>
              <a:t>CHU Kwok Wai</a:t>
            </a:r>
          </a:p>
          <a:p>
            <a:pPr lvl="0"/>
            <a:r>
              <a:rPr lang="en-HK" dirty="0"/>
              <a:t>GUO Yunuo</a:t>
            </a:r>
          </a:p>
          <a:p>
            <a:pPr lvl="0"/>
            <a:r>
              <a:rPr lang="en-HK" dirty="0"/>
              <a:t>LAM Man</a:t>
            </a:r>
          </a:p>
          <a:p>
            <a:pPr lvl="0"/>
            <a:r>
              <a:rPr lang="en-HK" dirty="0"/>
              <a:t>LIU Yuhan</a:t>
            </a:r>
          </a:p>
          <a:p>
            <a:pPr lvl="0"/>
            <a:r>
              <a:rPr lang="en-HK" dirty="0"/>
              <a:t>WANG Yiran </a:t>
            </a:r>
          </a:p>
          <a:p>
            <a:pPr lvl="0"/>
            <a:r>
              <a:rPr lang="en-HK" dirty="0"/>
              <a:t>TAN Wenxin</a:t>
            </a:r>
          </a:p>
          <a:p>
            <a:endParaRPr lang="en-US" dirty="0"/>
          </a:p>
        </p:txBody>
      </p:sp>
    </p:spTree>
    <p:extLst>
      <p:ext uri="{BB962C8B-B14F-4D97-AF65-F5344CB8AC3E}">
        <p14:creationId xmlns:p14="http://schemas.microsoft.com/office/powerpoint/2010/main" val="298912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8172-C1C5-687D-3DF9-162D9ACBB98C}"/>
              </a:ext>
            </a:extLst>
          </p:cNvPr>
          <p:cNvSpPr>
            <a:spLocks noGrp="1"/>
          </p:cNvSpPr>
          <p:nvPr>
            <p:ph type="title"/>
          </p:nvPr>
        </p:nvSpPr>
        <p:spPr/>
        <p:txBody>
          <a:bodyPr/>
          <a:lstStyle/>
          <a:p>
            <a:r>
              <a:rPr lang="en-US" dirty="0"/>
              <a:t>Dr. Matthew Chu</a:t>
            </a:r>
          </a:p>
        </p:txBody>
      </p:sp>
      <p:sp>
        <p:nvSpPr>
          <p:cNvPr id="3" name="Content Placeholder 2">
            <a:extLst>
              <a:ext uri="{FF2B5EF4-FFF2-40B4-BE49-F238E27FC236}">
                <a16:creationId xmlns:a16="http://schemas.microsoft.com/office/drawing/2014/main" id="{A6D6D008-6276-90D4-3A0B-6AC768ED7BF1}"/>
              </a:ext>
            </a:extLst>
          </p:cNvPr>
          <p:cNvSpPr>
            <a:spLocks noGrp="1"/>
          </p:cNvSpPr>
          <p:nvPr>
            <p:ph idx="1"/>
          </p:nvPr>
        </p:nvSpPr>
        <p:spPr/>
        <p:txBody>
          <a:bodyPr>
            <a:normAutofit/>
          </a:bodyPr>
          <a:lstStyle/>
          <a:p>
            <a:pPr lvl="0"/>
            <a:r>
              <a:rPr lang="en-HK" dirty="0"/>
              <a:t>CHENG </a:t>
            </a:r>
            <a:r>
              <a:rPr lang="en-HK" dirty="0" err="1"/>
              <a:t>Zenaria</a:t>
            </a:r>
            <a:r>
              <a:rPr lang="en-HK" dirty="0"/>
              <a:t> Ying Na</a:t>
            </a:r>
          </a:p>
          <a:p>
            <a:pPr lvl="0"/>
            <a:r>
              <a:rPr lang="en-HK" dirty="0"/>
              <a:t>CHIU Shun Ching</a:t>
            </a:r>
          </a:p>
          <a:p>
            <a:pPr lvl="0"/>
            <a:r>
              <a:rPr lang="en-HK" dirty="0"/>
              <a:t>KWAN Hoi Lam</a:t>
            </a:r>
          </a:p>
          <a:p>
            <a:pPr lvl="0"/>
            <a:r>
              <a:rPr lang="en-HK" dirty="0"/>
              <a:t>LEE Lai Ping</a:t>
            </a:r>
          </a:p>
          <a:p>
            <a:pPr lvl="0"/>
            <a:r>
              <a:rPr lang="en-HK" dirty="0"/>
              <a:t>LO Shuk Yee</a:t>
            </a:r>
          </a:p>
          <a:p>
            <a:pPr lvl="0"/>
            <a:r>
              <a:rPr lang="en-HK" dirty="0"/>
              <a:t>LUK Kwok Hang</a:t>
            </a:r>
          </a:p>
          <a:p>
            <a:endParaRPr lang="en-US" dirty="0"/>
          </a:p>
        </p:txBody>
      </p:sp>
    </p:spTree>
    <p:extLst>
      <p:ext uri="{BB962C8B-B14F-4D97-AF65-F5344CB8AC3E}">
        <p14:creationId xmlns:p14="http://schemas.microsoft.com/office/powerpoint/2010/main" val="358795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72BC-04DD-B437-E24D-C7C5849D5143}"/>
              </a:ext>
            </a:extLst>
          </p:cNvPr>
          <p:cNvSpPr>
            <a:spLocks noGrp="1"/>
          </p:cNvSpPr>
          <p:nvPr>
            <p:ph type="title"/>
          </p:nvPr>
        </p:nvSpPr>
        <p:spPr/>
        <p:txBody>
          <a:bodyPr/>
          <a:lstStyle/>
          <a:p>
            <a:r>
              <a:rPr lang="en-US" dirty="0"/>
              <a:t>Dr. Queenie Lee</a:t>
            </a:r>
          </a:p>
        </p:txBody>
      </p:sp>
      <p:sp>
        <p:nvSpPr>
          <p:cNvPr id="3" name="Content Placeholder 2">
            <a:extLst>
              <a:ext uri="{FF2B5EF4-FFF2-40B4-BE49-F238E27FC236}">
                <a16:creationId xmlns:a16="http://schemas.microsoft.com/office/drawing/2014/main" id="{9A3EFEC0-FE9A-8F57-A2D3-AF68F6C0F33C}"/>
              </a:ext>
            </a:extLst>
          </p:cNvPr>
          <p:cNvSpPr>
            <a:spLocks noGrp="1"/>
          </p:cNvSpPr>
          <p:nvPr>
            <p:ph idx="1"/>
          </p:nvPr>
        </p:nvSpPr>
        <p:spPr/>
        <p:txBody>
          <a:bodyPr>
            <a:normAutofit/>
          </a:bodyPr>
          <a:lstStyle/>
          <a:p>
            <a:pPr lvl="0"/>
            <a:r>
              <a:rPr lang="en-HK" dirty="0"/>
              <a:t>LEE Ian Nicholas</a:t>
            </a:r>
          </a:p>
          <a:p>
            <a:pPr lvl="0"/>
            <a:r>
              <a:rPr lang="en-HK" dirty="0"/>
              <a:t>LI Weijun</a:t>
            </a:r>
          </a:p>
          <a:p>
            <a:pPr lvl="0"/>
            <a:r>
              <a:rPr lang="en-HK" dirty="0"/>
              <a:t>SHUM Kwan Ho</a:t>
            </a:r>
          </a:p>
          <a:p>
            <a:pPr lvl="0"/>
            <a:r>
              <a:rPr lang="en-HK" dirty="0"/>
              <a:t>TANG Hoi Lam Kary</a:t>
            </a:r>
          </a:p>
          <a:p>
            <a:pPr lvl="0"/>
            <a:r>
              <a:rPr lang="en-HK" dirty="0"/>
              <a:t>WANG </a:t>
            </a:r>
            <a:r>
              <a:rPr lang="en-HK" dirty="0" err="1"/>
              <a:t>Hanqing</a:t>
            </a:r>
            <a:endParaRPr lang="en-HK" dirty="0"/>
          </a:p>
          <a:p>
            <a:pPr lvl="0"/>
            <a:r>
              <a:rPr lang="en-HK" dirty="0"/>
              <a:t>WONG Hok Yiu</a:t>
            </a:r>
          </a:p>
          <a:p>
            <a:endParaRPr lang="en-US" dirty="0"/>
          </a:p>
        </p:txBody>
      </p:sp>
    </p:spTree>
    <p:extLst>
      <p:ext uri="{BB962C8B-B14F-4D97-AF65-F5344CB8AC3E}">
        <p14:creationId xmlns:p14="http://schemas.microsoft.com/office/powerpoint/2010/main" val="547547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29C725-6F39-B8C2-1C06-94E542EB4374}"/>
              </a:ext>
            </a:extLst>
          </p:cNvPr>
          <p:cNvSpPr>
            <a:spLocks noGrp="1"/>
          </p:cNvSpPr>
          <p:nvPr>
            <p:ph type="ctrTitle"/>
          </p:nvPr>
        </p:nvSpPr>
        <p:spPr>
          <a:xfrm>
            <a:off x="1524000" y="1453959"/>
            <a:ext cx="9144000" cy="2387600"/>
          </a:xfrm>
        </p:spPr>
        <p:txBody>
          <a:bodyPr/>
          <a:lstStyle/>
          <a:p>
            <a:r>
              <a:rPr lang="en-US" dirty="0"/>
              <a:t>Course Matters</a:t>
            </a:r>
          </a:p>
        </p:txBody>
      </p:sp>
    </p:spTree>
    <p:extLst>
      <p:ext uri="{BB962C8B-B14F-4D97-AF65-F5344CB8AC3E}">
        <p14:creationId xmlns:p14="http://schemas.microsoft.com/office/powerpoint/2010/main" val="3880329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768DCD-B824-413A-B330-8D57ADB37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p:cNvSpPr>
            <a:spLocks noGrp="1"/>
          </p:cNvSpPr>
          <p:nvPr>
            <p:ph type="title"/>
          </p:nvPr>
        </p:nvSpPr>
        <p:spPr>
          <a:xfrm>
            <a:off x="838200" y="609600"/>
            <a:ext cx="10515600" cy="2324101"/>
          </a:xfrm>
        </p:spPr>
        <p:txBody>
          <a:bodyPr anchor="ctr">
            <a:normAutofit/>
          </a:bodyPr>
          <a:lstStyle/>
          <a:p>
            <a:pPr algn="ctr"/>
            <a:r>
              <a:rPr lang="en-US" sz="4400" b="1" dirty="0">
                <a:gradFill flip="none" rotWithShape="1">
                  <a:gsLst>
                    <a:gs pos="0">
                      <a:schemeClr val="accent5">
                        <a:alpha val="70000"/>
                      </a:schemeClr>
                    </a:gs>
                    <a:gs pos="100000">
                      <a:schemeClr val="accent1">
                        <a:alpha val="70000"/>
                      </a:schemeClr>
                    </a:gs>
                  </a:gsLst>
                  <a:lin ang="0" scaled="1"/>
                  <a:tileRect/>
                </a:gradFill>
                <a:latin typeface="Times New Roman" charset="0"/>
                <a:ea typeface="Times New Roman" charset="0"/>
                <a:cs typeface="Times New Roman" charset="0"/>
              </a:rPr>
              <a:t>Course Objectives</a:t>
            </a:r>
            <a:br>
              <a:rPr lang="en-US" sz="4400" dirty="0">
                <a:gradFill flip="none" rotWithShape="1">
                  <a:gsLst>
                    <a:gs pos="0">
                      <a:schemeClr val="accent5">
                        <a:alpha val="70000"/>
                      </a:schemeClr>
                    </a:gs>
                    <a:gs pos="100000">
                      <a:schemeClr val="accent1">
                        <a:alpha val="70000"/>
                      </a:schemeClr>
                    </a:gs>
                  </a:gsLst>
                  <a:lin ang="0" scaled="1"/>
                  <a:tileRect/>
                </a:gradFill>
                <a:latin typeface="Times New Roman" charset="0"/>
                <a:ea typeface="Times New Roman" charset="0"/>
                <a:cs typeface="Times New Roman" charset="0"/>
              </a:rPr>
            </a:br>
            <a:endParaRPr lang="en-US" sz="4400" dirty="0">
              <a:gradFill flip="none" rotWithShape="1">
                <a:gsLst>
                  <a:gs pos="0">
                    <a:schemeClr val="accent5">
                      <a:alpha val="70000"/>
                    </a:schemeClr>
                  </a:gs>
                  <a:gs pos="100000">
                    <a:schemeClr val="accent1">
                      <a:alpha val="70000"/>
                    </a:schemeClr>
                  </a:gs>
                </a:gsLst>
                <a:lin ang="0" scaled="1"/>
                <a:tileRect/>
              </a:gradFill>
              <a:latin typeface="Times New Roman" charset="0"/>
              <a:ea typeface="Times New Roman" charset="0"/>
              <a:cs typeface="Times New Roman" charset="0"/>
            </a:endParaRPr>
          </a:p>
        </p:txBody>
      </p:sp>
      <p:graphicFrame>
        <p:nvGraphicFramePr>
          <p:cNvPr id="8" name="內容版面配置區 3">
            <a:extLst>
              <a:ext uri="{FF2B5EF4-FFF2-40B4-BE49-F238E27FC236}">
                <a16:creationId xmlns:a16="http://schemas.microsoft.com/office/drawing/2014/main" id="{300FEC84-52B3-C615-334D-8239EF15ABF6}"/>
              </a:ext>
            </a:extLst>
          </p:cNvPr>
          <p:cNvGraphicFramePr>
            <a:graphicFrameLocks noGrp="1"/>
          </p:cNvGraphicFramePr>
          <p:nvPr>
            <p:ph idx="1"/>
            <p:extLst>
              <p:ext uri="{D42A27DB-BD31-4B8C-83A1-F6EECF244321}">
                <p14:modId xmlns:p14="http://schemas.microsoft.com/office/powerpoint/2010/main" val="2206717343"/>
              </p:ext>
            </p:extLst>
          </p:nvPr>
        </p:nvGraphicFramePr>
        <p:xfrm>
          <a:off x="838200" y="3152775"/>
          <a:ext cx="10515600" cy="3024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1295" y="303688"/>
            <a:ext cx="9361170" cy="1400811"/>
          </a:xfrm>
        </p:spPr>
        <p:txBody>
          <a:bodyPr>
            <a:normAutofit/>
          </a:bodyPr>
          <a:lstStyle/>
          <a:p>
            <a:pPr algn="ctr"/>
            <a:r>
              <a:rPr lang="en-US" sz="4000" b="1" dirty="0">
                <a:solidFill>
                  <a:schemeClr val="tx2">
                    <a:lumMod val="50000"/>
                    <a:lumOff val="50000"/>
                  </a:schemeClr>
                </a:solidFill>
                <a:latin typeface="Times New Roman" charset="0"/>
                <a:ea typeface="Times New Roman" charset="0"/>
                <a:cs typeface="Times New Roman" charset="0"/>
              </a:rPr>
              <a:t>Supervision Schedule</a:t>
            </a:r>
            <a:endParaRPr lang="en-US" sz="4000" dirty="0">
              <a:solidFill>
                <a:schemeClr val="tx2">
                  <a:lumMod val="50000"/>
                  <a:lumOff val="50000"/>
                </a:schemeClr>
              </a:solidFill>
            </a:endParaRPr>
          </a:p>
        </p:txBody>
      </p:sp>
      <p:graphicFrame>
        <p:nvGraphicFramePr>
          <p:cNvPr id="5" name="Content Placeholder 4">
            <a:extLst>
              <a:ext uri="{FF2B5EF4-FFF2-40B4-BE49-F238E27FC236}">
                <a16:creationId xmlns:a16="http://schemas.microsoft.com/office/drawing/2014/main" id="{40A8DA5A-2D4E-8D40-8D46-C2E8A611C7DB}"/>
              </a:ext>
            </a:extLst>
          </p:cNvPr>
          <p:cNvGraphicFramePr>
            <a:graphicFrameLocks noGrp="1"/>
          </p:cNvGraphicFramePr>
          <p:nvPr>
            <p:ph idx="1"/>
          </p:nvPr>
        </p:nvGraphicFramePr>
        <p:xfrm>
          <a:off x="3037205" y="2501106"/>
          <a:ext cx="6117590" cy="3352800"/>
        </p:xfrm>
        <a:graphic>
          <a:graphicData uri="http://schemas.openxmlformats.org/drawingml/2006/table">
            <a:tbl>
              <a:tblPr firstRow="1" firstCol="1" bandRow="1">
                <a:tableStyleId>{5C22544A-7EE6-4342-B048-85BDC9FD1C3A}</a:tableStyleId>
              </a:tblPr>
              <a:tblGrid>
                <a:gridCol w="2092325">
                  <a:extLst>
                    <a:ext uri="{9D8B030D-6E8A-4147-A177-3AD203B41FA5}">
                      <a16:colId xmlns:a16="http://schemas.microsoft.com/office/drawing/2014/main" val="1368083380"/>
                    </a:ext>
                  </a:extLst>
                </a:gridCol>
                <a:gridCol w="4025265">
                  <a:extLst>
                    <a:ext uri="{9D8B030D-6E8A-4147-A177-3AD203B41FA5}">
                      <a16:colId xmlns:a16="http://schemas.microsoft.com/office/drawing/2014/main" val="3302807782"/>
                    </a:ext>
                  </a:extLst>
                </a:gridCol>
              </a:tblGrid>
              <a:tr h="0">
                <a:tc>
                  <a:txBody>
                    <a:bodyPr/>
                    <a:lstStyle/>
                    <a:p>
                      <a:r>
                        <a:rPr lang="en-US" sz="1100">
                          <a:effectLst/>
                        </a:rPr>
                        <a:t>Dates  </a:t>
                      </a:r>
                      <a:endParaRPr lang="en-HK" sz="1000">
                        <a:effectLst/>
                      </a:endParaRPr>
                    </a:p>
                    <a:p>
                      <a:r>
                        <a:rPr lang="en-US" sz="1100">
                          <a:effectLst/>
                        </a:rPr>
                        <a:t>Tuesdays 6:00pm – 9:00pm</a:t>
                      </a:r>
                      <a:endParaRPr lang="en-HK" sz="10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r>
                        <a:rPr lang="en-US" sz="1100">
                          <a:effectLst/>
                        </a:rPr>
                        <a:t> </a:t>
                      </a:r>
                      <a:endParaRPr lang="en-HK" sz="1000">
                        <a:effectLst/>
                      </a:endParaRPr>
                    </a:p>
                    <a:p>
                      <a:r>
                        <a:rPr lang="en-US" sz="1100">
                          <a:effectLst/>
                        </a:rPr>
                        <a:t>Sessions</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29950332"/>
                  </a:ext>
                </a:extLst>
              </a:tr>
              <a:tr h="0">
                <a:tc>
                  <a:txBody>
                    <a:bodyPr/>
                    <a:lstStyle/>
                    <a:p>
                      <a:r>
                        <a:rPr lang="en-US" sz="1100">
                          <a:effectLst/>
                        </a:rPr>
                        <a:t>May 3 </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(1) Introductory Meeting, Course Introduction &amp; Group Supervision </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568780107"/>
                  </a:ext>
                </a:extLst>
              </a:tr>
              <a:tr h="0">
                <a:tc>
                  <a:txBody>
                    <a:bodyPr/>
                    <a:lstStyle/>
                    <a:p>
                      <a:r>
                        <a:rPr lang="en-US" sz="1100">
                          <a:effectLst/>
                        </a:rPr>
                        <a:t>May 10</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(2) Individual Supervision*</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783895352"/>
                  </a:ext>
                </a:extLst>
              </a:tr>
              <a:tr h="0">
                <a:tc>
                  <a:txBody>
                    <a:bodyPr/>
                    <a:lstStyle/>
                    <a:p>
                      <a:r>
                        <a:rPr lang="en-US" sz="1100">
                          <a:effectLst/>
                        </a:rPr>
                        <a:t>May 17</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(3) Individual Supervision*</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794948229"/>
                  </a:ext>
                </a:extLst>
              </a:tr>
              <a:tr h="0">
                <a:tc>
                  <a:txBody>
                    <a:bodyPr/>
                    <a:lstStyle/>
                    <a:p>
                      <a:r>
                        <a:rPr lang="en-US" sz="1100">
                          <a:effectLst/>
                        </a:rPr>
                        <a:t>May 31</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(4) Group Supervision</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716618"/>
                  </a:ext>
                </a:extLst>
              </a:tr>
              <a:tr h="0">
                <a:tc>
                  <a:txBody>
                    <a:bodyPr/>
                    <a:lstStyle/>
                    <a:p>
                      <a:r>
                        <a:rPr lang="en-US" sz="1100">
                          <a:effectLst/>
                        </a:rPr>
                        <a:t>June 14</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(5) Individual Supervision*</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174240701"/>
                  </a:ext>
                </a:extLst>
              </a:tr>
              <a:tr h="0">
                <a:tc>
                  <a:txBody>
                    <a:bodyPr/>
                    <a:lstStyle/>
                    <a:p>
                      <a:r>
                        <a:rPr lang="en-US" sz="1100">
                          <a:effectLst/>
                        </a:rPr>
                        <a:t>June 21</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r>
                        <a:rPr lang="en-US" sz="1100">
                          <a:effectLst/>
                        </a:rPr>
                        <a:t>(6) Group Supervision</a:t>
                      </a:r>
                      <a:endParaRPr lang="en-HK" sz="10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993609092"/>
                  </a:ext>
                </a:extLst>
              </a:tr>
              <a:tr h="0">
                <a:tc>
                  <a:txBody>
                    <a:bodyPr/>
                    <a:lstStyle/>
                    <a:p>
                      <a:r>
                        <a:rPr lang="en-US" sz="1100">
                          <a:effectLst/>
                        </a:rPr>
                        <a:t>July 5</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a:effectLst/>
                        </a:rPr>
                        <a:t>(7) Individual Supervision*</a:t>
                      </a:r>
                      <a:endParaRPr lang="en-HK" sz="1200">
                        <a:effectLst/>
                      </a:endParaRPr>
                    </a:p>
                    <a:p>
                      <a:r>
                        <a:rPr lang="en-US" sz="1100">
                          <a:effectLst/>
                        </a:rPr>
                        <a:t> </a:t>
                      </a:r>
                      <a:endParaRPr lang="en-HK" sz="10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68043713"/>
                  </a:ext>
                </a:extLst>
              </a:tr>
              <a:tr h="0">
                <a:tc>
                  <a:txBody>
                    <a:bodyPr/>
                    <a:lstStyle/>
                    <a:p>
                      <a:r>
                        <a:rPr lang="en-US" sz="1100">
                          <a:effectLst/>
                        </a:rPr>
                        <a:t>July 19</a:t>
                      </a:r>
                      <a:endParaRPr lang="en-HK" sz="1000">
                        <a:effectLst/>
                        <a:latin typeface="Times New Roman" panose="02020603050405020304" pitchFamily="18" charset="0"/>
                        <a:ea typeface="PMingLiU" panose="02020500000000000000" pitchFamily="18" charset="-120"/>
                      </a:endParaRPr>
                    </a:p>
                  </a:txBody>
                  <a:tcPr marL="68580" marR="68580" marT="0" marB="0"/>
                </a:tc>
                <a:tc>
                  <a:txBody>
                    <a:bodyPr/>
                    <a:lstStyle/>
                    <a:p>
                      <a:pPr marL="457200"/>
                      <a:r>
                        <a:rPr lang="en-US" sz="1100" dirty="0">
                          <a:effectLst/>
                        </a:rPr>
                        <a:t>(8) Group Supervision &amp; Course Evaluation</a:t>
                      </a:r>
                      <a:endParaRPr lang="en-HK" sz="1200" dirty="0">
                        <a:effectLst/>
                      </a:endParaRPr>
                    </a:p>
                    <a:p>
                      <a:r>
                        <a:rPr lang="en-US" sz="1100" dirty="0">
                          <a:effectLst/>
                        </a:rPr>
                        <a:t> </a:t>
                      </a:r>
                      <a:endParaRPr lang="en-HK" sz="10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467533828"/>
                  </a:ext>
                </a:extLst>
              </a:tr>
            </a:tbl>
          </a:graphicData>
        </a:graphic>
      </p:graphicFrame>
      <p:graphicFrame>
        <p:nvGraphicFramePr>
          <p:cNvPr id="6" name="Table 5">
            <a:extLst>
              <a:ext uri="{FF2B5EF4-FFF2-40B4-BE49-F238E27FC236}">
                <a16:creationId xmlns:a16="http://schemas.microsoft.com/office/drawing/2014/main" id="{9EAFC83F-CE28-9643-AC79-A231BB62AB42}"/>
              </a:ext>
            </a:extLst>
          </p:cNvPr>
          <p:cNvGraphicFramePr>
            <a:graphicFrameLocks noGrp="1"/>
          </p:cNvGraphicFramePr>
          <p:nvPr>
            <p:extLst>
              <p:ext uri="{D42A27DB-BD31-4B8C-83A1-F6EECF244321}">
                <p14:modId xmlns:p14="http://schemas.microsoft.com/office/powerpoint/2010/main" val="1001880513"/>
              </p:ext>
            </p:extLst>
          </p:nvPr>
        </p:nvGraphicFramePr>
        <p:xfrm>
          <a:off x="1471295" y="1464311"/>
          <a:ext cx="9361170" cy="4592637"/>
        </p:xfrm>
        <a:graphic>
          <a:graphicData uri="http://schemas.openxmlformats.org/drawingml/2006/table">
            <a:tbl>
              <a:tblPr firstRow="1" firstCol="1" bandRow="1">
                <a:tableStyleId>{8A107856-5554-42FB-B03E-39F5DBC370BA}</a:tableStyleId>
              </a:tblPr>
              <a:tblGrid>
                <a:gridCol w="3201688">
                  <a:extLst>
                    <a:ext uri="{9D8B030D-6E8A-4147-A177-3AD203B41FA5}">
                      <a16:colId xmlns:a16="http://schemas.microsoft.com/office/drawing/2014/main" val="3701577568"/>
                    </a:ext>
                  </a:extLst>
                </a:gridCol>
                <a:gridCol w="6159482">
                  <a:extLst>
                    <a:ext uri="{9D8B030D-6E8A-4147-A177-3AD203B41FA5}">
                      <a16:colId xmlns:a16="http://schemas.microsoft.com/office/drawing/2014/main" val="636719107"/>
                    </a:ext>
                  </a:extLst>
                </a:gridCol>
              </a:tblGrid>
              <a:tr h="591764">
                <a:tc>
                  <a:txBody>
                    <a:bodyPr/>
                    <a:lstStyle/>
                    <a:p>
                      <a:pPr algn="ctr"/>
                      <a:r>
                        <a:rPr lang="en-US" sz="1600" dirty="0">
                          <a:effectLst/>
                          <a:latin typeface="Times New Roman" panose="02020603050405020304" pitchFamily="18" charset="0"/>
                          <a:cs typeface="Times New Roman" panose="02020603050405020304" pitchFamily="18" charset="0"/>
                        </a:rPr>
                        <a:t>Dates  </a:t>
                      </a:r>
                    </a:p>
                    <a:p>
                      <a:pPr algn="ctr"/>
                      <a:r>
                        <a:rPr lang="en-US" sz="1600" dirty="0">
                          <a:effectLst/>
                          <a:latin typeface="Times New Roman" panose="02020603050405020304" pitchFamily="18" charset="0"/>
                          <a:cs typeface="Times New Roman" panose="02020603050405020304" pitchFamily="18" charset="0"/>
                        </a:rPr>
                        <a:t>Wednesday 6 – 9pm</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Sessions</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970974175"/>
                  </a:ext>
                </a:extLst>
              </a:tr>
              <a:tr h="447357">
                <a:tc>
                  <a:txBody>
                    <a:bodyPr/>
                    <a:lstStyle/>
                    <a:p>
                      <a:pPr algn="ctr"/>
                      <a:r>
                        <a:rPr lang="en-US" sz="1600" dirty="0">
                          <a:effectLst/>
                          <a:latin typeface="Times New Roman" panose="02020603050405020304" pitchFamily="18" charset="0"/>
                          <a:cs typeface="Times New Roman" panose="02020603050405020304" pitchFamily="18" charset="0"/>
                        </a:rPr>
                        <a:t>May 6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(1) Course Introduction &amp; Group Supervision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extLst>
                  <a:ext uri="{0D108BD9-81ED-4DB2-BD59-A6C34878D82A}">
                    <a16:rowId xmlns:a16="http://schemas.microsoft.com/office/drawing/2014/main" val="3049960727"/>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May 13</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(2) Individual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871578826"/>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May 20</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(3) Individual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1313107605"/>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May 27</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(4) Group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extLst>
                  <a:ext uri="{0D108BD9-81ED-4DB2-BD59-A6C34878D82A}">
                    <a16:rowId xmlns:a16="http://schemas.microsoft.com/office/drawing/2014/main" val="1427828199"/>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June 3</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(5) Individual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2561652946"/>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June 10</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tc>
                  <a:txBody>
                    <a:bodyPr/>
                    <a:lstStyle/>
                    <a:p>
                      <a:pPr algn="ctr"/>
                      <a:r>
                        <a:rPr lang="en-US" sz="1600" dirty="0">
                          <a:effectLst/>
                          <a:latin typeface="Times New Roman" panose="02020603050405020304" pitchFamily="18" charset="0"/>
                          <a:cs typeface="Times New Roman" panose="02020603050405020304" pitchFamily="18" charset="0"/>
                        </a:rPr>
                        <a:t>(6) Group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extLst>
                  <a:ext uri="{0D108BD9-81ED-4DB2-BD59-A6C34878D82A}">
                    <a16:rowId xmlns:a16="http://schemas.microsoft.com/office/drawing/2014/main" val="2644008868"/>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June 17</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(7) Individual Supervision*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2231810515"/>
                  </a:ext>
                </a:extLst>
              </a:tr>
              <a:tr h="394510">
                <a:tc>
                  <a:txBody>
                    <a:bodyPr/>
                    <a:lstStyle/>
                    <a:p>
                      <a:pPr algn="ctr"/>
                      <a:r>
                        <a:rPr lang="en-US" sz="1600" dirty="0">
                          <a:effectLst/>
                          <a:latin typeface="Times New Roman" panose="02020603050405020304" pitchFamily="18" charset="0"/>
                          <a:cs typeface="Times New Roman" panose="02020603050405020304" pitchFamily="18" charset="0"/>
                        </a:rPr>
                        <a:t>June 24</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tc>
                  <a:txBody>
                    <a:bodyPr/>
                    <a:lstStyle/>
                    <a:p>
                      <a:pPr marL="457200" algn="ctr"/>
                      <a:r>
                        <a:rPr lang="en-US" sz="1600" dirty="0">
                          <a:effectLst/>
                          <a:latin typeface="Times New Roman" panose="02020603050405020304" pitchFamily="18" charset="0"/>
                          <a:cs typeface="Times New Roman" panose="02020603050405020304" pitchFamily="18" charset="0"/>
                        </a:rPr>
                        <a:t>(8) Group Supervision &amp; Course Evaluation</a:t>
                      </a:r>
                      <a:endParaRPr lang="en-HK" sz="1600" dirty="0">
                        <a:effectLst/>
                        <a:latin typeface="Times New Roman" panose="02020603050405020304" pitchFamily="18" charset="0"/>
                        <a:cs typeface="Times New Roman" panose="02020603050405020304" pitchFamily="18" charset="0"/>
                      </a:endParaRPr>
                    </a:p>
                    <a:p>
                      <a:pPr algn="ctr"/>
                      <a:r>
                        <a:rPr lang="en-US" sz="1600" dirty="0">
                          <a:effectLst/>
                          <a:latin typeface="Times New Roman" panose="02020603050405020304" pitchFamily="18" charset="0"/>
                          <a:cs typeface="Times New Roman" panose="02020603050405020304" pitchFamily="18" charset="0"/>
                        </a:rPr>
                        <a:t> </a:t>
                      </a:r>
                      <a:endParaRPr lang="en-HK" sz="1600" dirty="0">
                        <a:effectLst/>
                        <a:latin typeface="Times New Roman" panose="02020603050405020304" pitchFamily="18" charset="0"/>
                        <a:ea typeface="PMingLiU" panose="02020500000000000000" pitchFamily="18" charset="-120"/>
                        <a:cs typeface="Times New Roman" panose="02020603050405020304" pitchFamily="18" charset="0"/>
                      </a:endParaRPr>
                    </a:p>
                  </a:txBody>
                  <a:tcPr marL="68580" marR="68580" marT="0" marB="0">
                    <a:solidFill>
                      <a:schemeClr val="tx2">
                        <a:lumMod val="25000"/>
                        <a:lumOff val="75000"/>
                      </a:schemeClr>
                    </a:solidFill>
                  </a:tcPr>
                </a:tc>
                <a:extLst>
                  <a:ext uri="{0D108BD9-81ED-4DB2-BD59-A6C34878D82A}">
                    <a16:rowId xmlns:a16="http://schemas.microsoft.com/office/drawing/2014/main" val="2135376393"/>
                  </a:ext>
                </a:extLst>
              </a:tr>
            </a:tbl>
          </a:graphicData>
        </a:graphic>
      </p:graphicFrame>
    </p:spTree>
    <p:extLst>
      <p:ext uri="{BB962C8B-B14F-4D97-AF65-F5344CB8AC3E}">
        <p14:creationId xmlns:p14="http://schemas.microsoft.com/office/powerpoint/2010/main" val="692898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76501-DE5E-7140-A2EA-2135C65FC7A8}"/>
              </a:ext>
            </a:extLst>
          </p:cNvPr>
          <p:cNvSpPr>
            <a:spLocks noGrp="1"/>
          </p:cNvSpPr>
          <p:nvPr>
            <p:ph type="title"/>
          </p:nvPr>
        </p:nvSpPr>
        <p:spPr/>
        <p:txBody>
          <a:bodyPr/>
          <a:lstStyle/>
          <a:p>
            <a:r>
              <a:rPr lang="en-US" dirty="0"/>
              <a:t>Contact Hours</a:t>
            </a:r>
          </a:p>
        </p:txBody>
      </p:sp>
      <p:sp>
        <p:nvSpPr>
          <p:cNvPr id="3" name="Content Placeholder 2">
            <a:extLst>
              <a:ext uri="{FF2B5EF4-FFF2-40B4-BE49-F238E27FC236}">
                <a16:creationId xmlns:a16="http://schemas.microsoft.com/office/drawing/2014/main" id="{E2AB521C-B927-534D-993C-60F41F49E1B1}"/>
              </a:ext>
            </a:extLst>
          </p:cNvPr>
          <p:cNvSpPr>
            <a:spLocks noGrp="1"/>
          </p:cNvSpPr>
          <p:nvPr>
            <p:ph idx="1"/>
          </p:nvPr>
        </p:nvSpPr>
        <p:spPr/>
        <p:txBody>
          <a:bodyPr>
            <a:normAutofit fontScale="77500" lnSpcReduction="20000"/>
          </a:bodyPr>
          <a:lstStyle/>
          <a:p>
            <a:pPr marL="228600" indent="0">
              <a:buNone/>
            </a:pPr>
            <a:r>
              <a:rPr lang="en-US" dirty="0"/>
              <a:t>Reading, reflection and preparation for counselling and supervision	50 hours</a:t>
            </a:r>
            <a:endParaRPr lang="en-HK" dirty="0"/>
          </a:p>
          <a:p>
            <a:pPr marL="228600" indent="0">
              <a:buNone/>
            </a:pPr>
            <a:r>
              <a:rPr lang="en-US" dirty="0"/>
              <a:t>Introductory meeting							1 hour</a:t>
            </a:r>
            <a:endParaRPr lang="en-HK" dirty="0"/>
          </a:p>
          <a:p>
            <a:pPr marL="228600" indent="0">
              <a:buNone/>
            </a:pPr>
            <a:r>
              <a:rPr lang="en-US" dirty="0">
                <a:highlight>
                  <a:srgbClr val="FFFF00"/>
                </a:highlight>
              </a:rPr>
              <a:t>Group guidance experience						18 hours</a:t>
            </a:r>
          </a:p>
          <a:p>
            <a:pPr marL="228600" indent="0">
              <a:buNone/>
            </a:pPr>
            <a:r>
              <a:rPr lang="en-US" dirty="0">
                <a:highlight>
                  <a:srgbClr val="FFFF00"/>
                </a:highlight>
              </a:rPr>
              <a:t>Individual counselling experience with clients				4 hours  </a:t>
            </a:r>
            <a:endParaRPr lang="en-HK" dirty="0">
              <a:highlight>
                <a:srgbClr val="FFFF00"/>
              </a:highlight>
            </a:endParaRPr>
          </a:p>
          <a:p>
            <a:pPr marL="228600" indent="0">
              <a:buNone/>
            </a:pPr>
            <a:r>
              <a:rPr lang="en-US" dirty="0"/>
              <a:t>Group supervision in class							11 hours</a:t>
            </a:r>
            <a:endParaRPr lang="en-HK" dirty="0"/>
          </a:p>
          <a:p>
            <a:pPr marL="228600" indent="0">
              <a:buNone/>
            </a:pPr>
            <a:r>
              <a:rPr lang="en-US" dirty="0"/>
              <a:t>Individual supervision							2 hours                                                                          </a:t>
            </a:r>
            <a:endParaRPr lang="en-HK" dirty="0"/>
          </a:p>
          <a:p>
            <a:pPr marL="228600" indent="0">
              <a:buNone/>
            </a:pPr>
            <a:r>
              <a:rPr lang="en-US" dirty="0"/>
              <a:t>Follow-up, reflection and preparation of practicum portfolio		50 hours</a:t>
            </a:r>
            <a:endParaRPr lang="en-HK" dirty="0"/>
          </a:p>
          <a:p>
            <a:pPr marL="228600" indent="0">
              <a:buNone/>
            </a:pPr>
            <a:r>
              <a:rPr lang="en-US" dirty="0"/>
              <a:t>                                                                                                 </a:t>
            </a:r>
            <a:r>
              <a:rPr lang="en-US" b="1" dirty="0"/>
              <a:t>   	         </a:t>
            </a:r>
            <a:r>
              <a:rPr lang="en-US" b="1" dirty="0">
                <a:solidFill>
                  <a:schemeClr val="tx2">
                    <a:lumMod val="75000"/>
                    <a:lumOff val="25000"/>
                    <a:alpha val="70000"/>
                  </a:schemeClr>
                </a:solidFill>
              </a:rPr>
              <a:t>TOTAL 136 hours</a:t>
            </a:r>
            <a:endParaRPr lang="en-HK" dirty="0">
              <a:solidFill>
                <a:schemeClr val="tx2">
                  <a:lumMod val="75000"/>
                  <a:lumOff val="25000"/>
                  <a:alpha val="70000"/>
                </a:schemeClr>
              </a:solidFill>
            </a:endParaRPr>
          </a:p>
        </p:txBody>
      </p:sp>
    </p:spTree>
    <p:extLst>
      <p:ext uri="{BB962C8B-B14F-4D97-AF65-F5344CB8AC3E}">
        <p14:creationId xmlns:p14="http://schemas.microsoft.com/office/powerpoint/2010/main" val="1190577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C97EDAC-272B-41CC-86DA-8AC840ADE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ame 31">
            <a:extLst>
              <a:ext uri="{FF2B5EF4-FFF2-40B4-BE49-F238E27FC236}">
                <a16:creationId xmlns:a16="http://schemas.microsoft.com/office/drawing/2014/main" id="{26BF6A59-70E8-420E-98E0-243A94A0E7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p:cNvSpPr>
            <a:spLocks noGrp="1"/>
          </p:cNvSpPr>
          <p:nvPr>
            <p:ph type="title"/>
          </p:nvPr>
        </p:nvSpPr>
        <p:spPr>
          <a:xfrm>
            <a:off x="838200" y="184151"/>
            <a:ext cx="10515600" cy="2076450"/>
          </a:xfrm>
        </p:spPr>
        <p:txBody>
          <a:bodyPr anchor="ctr">
            <a:normAutofit/>
          </a:bodyPr>
          <a:lstStyle/>
          <a:p>
            <a:pPr algn="ctr"/>
            <a:r>
              <a:rPr lang="en-US" sz="4400" dirty="0">
                <a:gradFill flip="none" rotWithShape="1">
                  <a:gsLst>
                    <a:gs pos="0">
                      <a:schemeClr val="accent5">
                        <a:alpha val="70000"/>
                      </a:schemeClr>
                    </a:gs>
                    <a:gs pos="100000">
                      <a:schemeClr val="accent1">
                        <a:alpha val="70000"/>
                      </a:schemeClr>
                    </a:gs>
                  </a:gsLst>
                  <a:lin ang="0" scaled="1"/>
                  <a:tileRect/>
                </a:gradFill>
                <a:latin typeface="Times New Roman" charset="0"/>
                <a:ea typeface="Times New Roman" charset="0"/>
                <a:cs typeface="Times New Roman" charset="0"/>
              </a:rPr>
              <a:t>Course Requirements </a:t>
            </a:r>
          </a:p>
        </p:txBody>
      </p:sp>
      <p:sp>
        <p:nvSpPr>
          <p:cNvPr id="25" name="內容版面配置區 2"/>
          <p:cNvSpPr>
            <a:spLocks noGrp="1"/>
          </p:cNvSpPr>
          <p:nvPr>
            <p:ph idx="1"/>
          </p:nvPr>
        </p:nvSpPr>
        <p:spPr>
          <a:xfrm>
            <a:off x="1358169" y="1810544"/>
            <a:ext cx="9624679" cy="3918744"/>
          </a:xfrm>
        </p:spPr>
        <p:txBody>
          <a:bodyPr>
            <a:normAutofit fontScale="92500" lnSpcReduction="20000"/>
          </a:bodyPr>
          <a:lstStyle/>
          <a:p>
            <a:pPr indent="-457200">
              <a:lnSpc>
                <a:spcPct val="100000"/>
              </a:lnSpc>
              <a:buClr>
                <a:schemeClr val="tx2">
                  <a:lumMod val="50000"/>
                  <a:lumOff val="50000"/>
                </a:schemeClr>
              </a:buClr>
              <a:buFont typeface="+mj-lt"/>
              <a:buAutoNum type="arabicPeriod"/>
            </a:pPr>
            <a:r>
              <a:rPr lang="en-US" sz="2400" dirty="0">
                <a:solidFill>
                  <a:schemeClr val="tx2">
                    <a:alpha val="60000"/>
                  </a:schemeClr>
                </a:solidFill>
                <a:latin typeface="Times New Roman" charset="0"/>
                <a:ea typeface="Times New Roman" charset="0"/>
                <a:cs typeface="Times New Roman" charset="0"/>
              </a:rPr>
              <a:t>You should design and lead one </a:t>
            </a:r>
            <a:r>
              <a:rPr lang="en-US" sz="2400" b="1" dirty="0">
                <a:solidFill>
                  <a:schemeClr val="accent6">
                    <a:lumMod val="75000"/>
                    <a:alpha val="60000"/>
                  </a:schemeClr>
                </a:solidFill>
                <a:latin typeface="Times New Roman" charset="0"/>
                <a:ea typeface="Times New Roman" charset="0"/>
                <a:cs typeface="Times New Roman" charset="0"/>
              </a:rPr>
              <a:t>guidance </a:t>
            </a:r>
            <a:r>
              <a:rPr lang="en-US" sz="2400" b="1" dirty="0" err="1">
                <a:solidFill>
                  <a:schemeClr val="accent6">
                    <a:lumMod val="75000"/>
                    <a:alpha val="60000"/>
                  </a:schemeClr>
                </a:solidFill>
                <a:latin typeface="Times New Roman" charset="0"/>
                <a:ea typeface="Times New Roman" charset="0"/>
                <a:cs typeface="Times New Roman" charset="0"/>
              </a:rPr>
              <a:t>programme</a:t>
            </a:r>
            <a:r>
              <a:rPr lang="en-US" sz="2400" dirty="0">
                <a:solidFill>
                  <a:schemeClr val="tx2">
                    <a:alpha val="60000"/>
                  </a:schemeClr>
                </a:solidFill>
                <a:latin typeface="Times New Roman" charset="0"/>
                <a:ea typeface="Times New Roman" charset="0"/>
                <a:cs typeface="Times New Roman" charset="0"/>
              </a:rPr>
              <a:t> for about 6 people for a total of </a:t>
            </a:r>
            <a:r>
              <a:rPr lang="en-US" sz="2400" b="1" dirty="0">
                <a:solidFill>
                  <a:srgbClr val="FF0000"/>
                </a:solidFill>
                <a:latin typeface="Times New Roman" charset="0"/>
                <a:ea typeface="Times New Roman" charset="0"/>
                <a:cs typeface="Times New Roman" charset="0"/>
              </a:rPr>
              <a:t>18 hours* </a:t>
            </a:r>
            <a:r>
              <a:rPr lang="en-US" sz="2400" dirty="0">
                <a:solidFill>
                  <a:schemeClr val="tx2">
                    <a:alpha val="60000"/>
                  </a:schemeClr>
                </a:solidFill>
                <a:latin typeface="Times New Roman" charset="0"/>
                <a:ea typeface="Times New Roman" charset="0"/>
                <a:cs typeface="Times New Roman" charset="0"/>
              </a:rPr>
              <a:t>(e.g., school children, adolescents, college students, parents of students) </a:t>
            </a:r>
          </a:p>
          <a:p>
            <a:pPr lvl="1" indent="-457200">
              <a:lnSpc>
                <a:spcPct val="100000"/>
              </a:lnSpc>
              <a:buClr>
                <a:schemeClr val="tx2">
                  <a:lumMod val="50000"/>
                  <a:lumOff val="50000"/>
                </a:schemeClr>
              </a:buClr>
              <a:buFont typeface="Wingdings" pitchFamily="2" charset="2"/>
              <a:buChar char="Ø"/>
            </a:pPr>
            <a:r>
              <a:rPr lang="en-US" sz="2000" dirty="0">
                <a:solidFill>
                  <a:schemeClr val="tx2">
                    <a:alpha val="60000"/>
                  </a:schemeClr>
                </a:solidFill>
                <a:latin typeface="Times New Roman" charset="0"/>
                <a:ea typeface="Times New Roman" charset="0"/>
                <a:cs typeface="Times New Roman" charset="0"/>
              </a:rPr>
              <a:t>*can be 9 + 9 hours for 2 groups </a:t>
            </a:r>
          </a:p>
          <a:p>
            <a:pPr indent="-457200">
              <a:lnSpc>
                <a:spcPct val="100000"/>
              </a:lnSpc>
              <a:buClr>
                <a:schemeClr val="tx2">
                  <a:lumMod val="50000"/>
                  <a:lumOff val="50000"/>
                </a:schemeClr>
              </a:buClr>
              <a:buFont typeface="+mj-lt"/>
              <a:buAutoNum type="arabicPeriod"/>
            </a:pPr>
            <a:r>
              <a:rPr lang="en-US" sz="2400" dirty="0">
                <a:solidFill>
                  <a:schemeClr val="tx2">
                    <a:alpha val="60000"/>
                  </a:schemeClr>
                </a:solidFill>
                <a:latin typeface="Times New Roman" charset="0"/>
                <a:ea typeface="Times New Roman" charset="0"/>
                <a:cs typeface="Times New Roman" charset="0"/>
              </a:rPr>
              <a:t>You should meet each group member for </a:t>
            </a:r>
            <a:r>
              <a:rPr lang="en-US" sz="2400" b="1" dirty="0">
                <a:solidFill>
                  <a:srgbClr val="0070C0">
                    <a:alpha val="60000"/>
                  </a:srgbClr>
                </a:solidFill>
                <a:latin typeface="Times New Roman" charset="0"/>
                <a:ea typeface="Times New Roman" charset="0"/>
                <a:cs typeface="Times New Roman" charset="0"/>
              </a:rPr>
              <a:t>individual counselling</a:t>
            </a:r>
            <a:r>
              <a:rPr lang="en-US" sz="2400" dirty="0">
                <a:solidFill>
                  <a:schemeClr val="tx2">
                    <a:alpha val="60000"/>
                  </a:schemeClr>
                </a:solidFill>
                <a:latin typeface="Times New Roman" charset="0"/>
                <a:ea typeface="Times New Roman" charset="0"/>
                <a:cs typeface="Times New Roman" charset="0"/>
              </a:rPr>
              <a:t> (one hour for each participant; </a:t>
            </a:r>
            <a:r>
              <a:rPr lang="en-US" sz="2400" b="1" dirty="0">
                <a:solidFill>
                  <a:srgbClr val="FF0000"/>
                </a:solidFill>
                <a:latin typeface="Times New Roman" charset="0"/>
                <a:ea typeface="Times New Roman" charset="0"/>
                <a:cs typeface="Times New Roman" charset="0"/>
              </a:rPr>
              <a:t>minimum 4 hours</a:t>
            </a:r>
            <a:r>
              <a:rPr lang="en-US" sz="2400" dirty="0">
                <a:solidFill>
                  <a:schemeClr val="tx2">
                    <a:alpha val="60000"/>
                  </a:schemeClr>
                </a:solidFill>
                <a:latin typeface="Times New Roman" charset="0"/>
                <a:ea typeface="Times New Roman" charset="0"/>
                <a:cs typeface="Times New Roman" charset="0"/>
              </a:rPr>
              <a:t>) </a:t>
            </a: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r>
              <a:rPr lang="en-US" sz="2400" dirty="0">
                <a:solidFill>
                  <a:schemeClr val="tx2">
                    <a:alpha val="60000"/>
                  </a:schemeClr>
                </a:solidFill>
                <a:latin typeface="Times New Roman" charset="0"/>
                <a:ea typeface="Times New Roman" charset="0"/>
                <a:cs typeface="Times New Roman" charset="0"/>
              </a:rPr>
              <a:t>Period: May 6 to June 24, 2026</a:t>
            </a:r>
          </a:p>
          <a:p>
            <a:pPr lvl="0">
              <a:lnSpc>
                <a:spcPct val="100000"/>
              </a:lnSpc>
              <a:buClr>
                <a:schemeClr val="tx2">
                  <a:lumMod val="50000"/>
                  <a:lumOff val="50000"/>
                </a:schemeClr>
              </a:buClr>
            </a:pPr>
            <a:r>
              <a:rPr lang="en-US" sz="2400" dirty="0">
                <a:solidFill>
                  <a:schemeClr val="tx2">
                    <a:alpha val="60000"/>
                  </a:schemeClr>
                </a:solidFill>
                <a:latin typeface="Times New Roman" charset="0"/>
                <a:ea typeface="Times New Roman" charset="0"/>
                <a:cs typeface="Times New Roman" charset="0"/>
              </a:rPr>
              <a:t>Closing date for submission of practicum portfolio: </a:t>
            </a:r>
            <a:r>
              <a:rPr lang="en-US" sz="2400" b="1" dirty="0">
                <a:solidFill>
                  <a:srgbClr val="FF0000"/>
                </a:solidFill>
                <a:latin typeface="Times New Roman" charset="0"/>
                <a:ea typeface="Times New Roman" charset="0"/>
                <a:cs typeface="Times New Roman" charset="0"/>
              </a:rPr>
              <a:t>July 31, 2026 </a:t>
            </a:r>
          </a:p>
          <a:p>
            <a:pPr marL="228600" lvl="0" indent="0">
              <a:lnSpc>
                <a:spcPct val="100000"/>
              </a:lnSpc>
              <a:buClr>
                <a:schemeClr val="tx2">
                  <a:lumMod val="50000"/>
                  <a:lumOff val="50000"/>
                </a:schemeClr>
              </a:buClr>
              <a:buNone/>
            </a:pPr>
            <a:r>
              <a:rPr lang="en-US" sz="2400" b="1" dirty="0">
                <a:solidFill>
                  <a:schemeClr val="tx2">
                    <a:alpha val="60000"/>
                  </a:schemeClr>
                </a:solidFill>
                <a:latin typeface="Times New Roman" charset="0"/>
                <a:ea typeface="Times New Roman" charset="0"/>
                <a:cs typeface="Times New Roman" charset="0"/>
              </a:rPr>
              <a:t>*</a:t>
            </a:r>
            <a:r>
              <a:rPr lang="en-US" sz="2400" dirty="0">
                <a:solidFill>
                  <a:schemeClr val="tx2">
                    <a:alpha val="60000"/>
                  </a:schemeClr>
                </a:solidFill>
                <a:latin typeface="Times New Roman" charset="0"/>
                <a:ea typeface="Times New Roman" charset="0"/>
                <a:cs typeface="Times New Roman" charset="0"/>
              </a:rPr>
              <a:t>Please apply for extension of deadline via MEd </a:t>
            </a:r>
            <a:r>
              <a:rPr lang="en-US" sz="2400" dirty="0" err="1">
                <a:solidFill>
                  <a:schemeClr val="tx2">
                    <a:alpha val="60000"/>
                  </a:schemeClr>
                </a:solidFill>
                <a:latin typeface="Times New Roman" charset="0"/>
                <a:ea typeface="Times New Roman" charset="0"/>
                <a:cs typeface="Times New Roman" charset="0"/>
              </a:rPr>
              <a:t>Programme</a:t>
            </a:r>
            <a:r>
              <a:rPr lang="en-US" sz="2400" dirty="0">
                <a:solidFill>
                  <a:schemeClr val="tx2">
                    <a:alpha val="60000"/>
                  </a:schemeClr>
                </a:solidFill>
                <a:latin typeface="Times New Roman" charset="0"/>
                <a:ea typeface="Times New Roman" charset="0"/>
                <a:cs typeface="Times New Roman" charset="0"/>
              </a:rPr>
              <a:t> Office if you need it (Email: </a:t>
            </a:r>
            <a:r>
              <a:rPr lang="en-US" sz="2400" dirty="0">
                <a:solidFill>
                  <a:schemeClr val="tx2">
                    <a:alpha val="60000"/>
                  </a:schemeClr>
                </a:solidFill>
                <a:latin typeface="Times New Roman" charset="0"/>
                <a:ea typeface="Times New Roman" charset="0"/>
                <a:cs typeface="Times New Roman" charset="0"/>
                <a:hlinkClick r:id="rId2"/>
              </a:rPr>
              <a:t>fwywong@hku.hk</a:t>
            </a:r>
            <a:r>
              <a:rPr lang="en-US" sz="2400" dirty="0">
                <a:solidFill>
                  <a:schemeClr val="tx2">
                    <a:alpha val="60000"/>
                  </a:schemeClr>
                </a:solidFill>
                <a:latin typeface="Times New Roman" charset="0"/>
                <a:ea typeface="Times New Roman" charset="0"/>
                <a:cs typeface="Times New Roman" charset="0"/>
              </a:rPr>
              <a:t> (Ms. Fanny Wong)</a:t>
            </a:r>
          </a:p>
          <a:p>
            <a:pPr marL="228600" lvl="0" indent="0">
              <a:lnSpc>
                <a:spcPct val="100000"/>
              </a:lnSpc>
              <a:buClr>
                <a:schemeClr val="tx2">
                  <a:lumMod val="50000"/>
                  <a:lumOff val="50000"/>
                </a:schemeClr>
              </a:buClr>
              <a:buNone/>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a:p>
            <a:pPr lvl="0">
              <a:lnSpc>
                <a:spcPct val="100000"/>
              </a:lnSpc>
              <a:buClr>
                <a:schemeClr val="tx2">
                  <a:lumMod val="50000"/>
                  <a:lumOff val="50000"/>
                </a:schemeClr>
              </a:buClr>
            </a:pPr>
            <a:endParaRPr lang="en-US" sz="2400" dirty="0">
              <a:solidFill>
                <a:schemeClr val="tx2">
                  <a:alpha val="60000"/>
                </a:schemeClr>
              </a:solidFill>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b="1" dirty="0">
                <a:solidFill>
                  <a:schemeClr val="tx2">
                    <a:lumMod val="50000"/>
                    <a:lumOff val="50000"/>
                  </a:schemeClr>
                </a:solidFill>
                <a:latin typeface="Times New Roman" charset="0"/>
                <a:ea typeface="Times New Roman" charset="0"/>
                <a:cs typeface="Times New Roman" charset="0"/>
              </a:rPr>
              <a:t> Course Assessment</a:t>
            </a:r>
            <a:r>
              <a:rPr lang="en-US" b="1" dirty="0">
                <a:solidFill>
                  <a:srgbClr val="00B050"/>
                </a:solidFill>
                <a:latin typeface="Times New Roman" charset="0"/>
                <a:ea typeface="Times New Roman" charset="0"/>
                <a:cs typeface="Times New Roman" charset="0"/>
              </a:rPr>
              <a:t> </a:t>
            </a:r>
            <a:r>
              <a:rPr lang="en-US" b="1" dirty="0">
                <a:solidFill>
                  <a:schemeClr val="tx2">
                    <a:lumMod val="50000"/>
                    <a:lumOff val="50000"/>
                  </a:schemeClr>
                </a:solidFill>
                <a:latin typeface="Times New Roman" charset="0"/>
                <a:ea typeface="Times New Roman" charset="0"/>
                <a:cs typeface="Times New Roman" charset="0"/>
              </a:rPr>
              <a:t>Tasks</a:t>
            </a:r>
            <a:endParaRPr lang="en-US" dirty="0">
              <a:solidFill>
                <a:schemeClr val="tx2">
                  <a:lumMod val="50000"/>
                  <a:lumOff val="50000"/>
                </a:schemeClr>
              </a:solidFill>
              <a:latin typeface="Times New Roman" charset="0"/>
              <a:ea typeface="Times New Roman" charset="0"/>
              <a:cs typeface="Times New Roman" charset="0"/>
            </a:endParaRPr>
          </a:p>
        </p:txBody>
      </p:sp>
      <p:sp>
        <p:nvSpPr>
          <p:cNvPr id="3" name="內容版面配置區 2"/>
          <p:cNvSpPr>
            <a:spLocks noGrp="1"/>
          </p:cNvSpPr>
          <p:nvPr>
            <p:ph idx="1"/>
          </p:nvPr>
        </p:nvSpPr>
        <p:spPr>
          <a:xfrm>
            <a:off x="838200" y="2006600"/>
            <a:ext cx="10515600" cy="3998306"/>
          </a:xfrm>
        </p:spPr>
        <p:txBody>
          <a:bodyPr/>
          <a:lstStyle/>
          <a:p>
            <a:pPr marL="0" indent="0">
              <a:buNone/>
            </a:pPr>
            <a:r>
              <a:rPr lang="en-AU" b="1" dirty="0">
                <a:solidFill>
                  <a:schemeClr val="tx2">
                    <a:lumMod val="50000"/>
                    <a:lumOff val="50000"/>
                  </a:schemeClr>
                </a:solidFill>
                <a:latin typeface="Times New Roman" charset="0"/>
                <a:ea typeface="Times New Roman" charset="0"/>
                <a:cs typeface="Times New Roman" charset="0"/>
              </a:rPr>
              <a:t>1. Participation in Group Supervisions [20%; all or none]</a:t>
            </a:r>
          </a:p>
          <a:p>
            <a:pPr marL="0" indent="0">
              <a:buNone/>
            </a:pPr>
            <a:r>
              <a:rPr lang="en-US" dirty="0">
                <a:solidFill>
                  <a:schemeClr val="tx2">
                    <a:lumMod val="50000"/>
                    <a:lumOff val="50000"/>
                  </a:schemeClr>
                </a:solidFill>
                <a:latin typeface="Times New Roman" charset="0"/>
                <a:ea typeface="Times New Roman" charset="0"/>
                <a:cs typeface="Times New Roman" charset="0"/>
              </a:rPr>
              <a:t>(</a:t>
            </a:r>
            <a:r>
              <a:rPr lang="en-US" dirty="0" err="1">
                <a:solidFill>
                  <a:schemeClr val="tx2">
                    <a:lumMod val="50000"/>
                    <a:lumOff val="50000"/>
                  </a:schemeClr>
                </a:solidFill>
                <a:latin typeface="Times New Roman" charset="0"/>
                <a:ea typeface="Times New Roman" charset="0"/>
                <a:cs typeface="Times New Roman" charset="0"/>
              </a:rPr>
              <a:t>i</a:t>
            </a:r>
            <a:r>
              <a:rPr lang="en-US" dirty="0">
                <a:solidFill>
                  <a:schemeClr val="tx2">
                    <a:lumMod val="50000"/>
                    <a:lumOff val="50000"/>
                  </a:schemeClr>
                </a:solidFill>
                <a:latin typeface="Times New Roman" charset="0"/>
                <a:ea typeface="Times New Roman" charset="0"/>
                <a:cs typeface="Times New Roman" charset="0"/>
              </a:rPr>
              <a:t>) give </a:t>
            </a:r>
            <a:r>
              <a:rPr lang="en-US" dirty="0">
                <a:solidFill>
                  <a:schemeClr val="tx2">
                    <a:lumMod val="50000"/>
                    <a:lumOff val="50000"/>
                  </a:schemeClr>
                </a:solidFill>
                <a:highlight>
                  <a:srgbClr val="FFFF00"/>
                </a:highlight>
                <a:latin typeface="Times New Roman" charset="0"/>
                <a:ea typeface="Times New Roman" charset="0"/>
                <a:cs typeface="Times New Roman" charset="0"/>
              </a:rPr>
              <a:t>presentations</a:t>
            </a:r>
            <a:r>
              <a:rPr lang="en-US" dirty="0">
                <a:solidFill>
                  <a:schemeClr val="tx2">
                    <a:lumMod val="50000"/>
                    <a:lumOff val="50000"/>
                  </a:schemeClr>
                </a:solidFill>
                <a:latin typeface="Times New Roman" charset="0"/>
                <a:ea typeface="Times New Roman" charset="0"/>
                <a:cs typeface="Times New Roman" charset="0"/>
              </a:rPr>
              <a:t> about your group guidance </a:t>
            </a:r>
            <a:r>
              <a:rPr lang="en-US" dirty="0" err="1">
                <a:solidFill>
                  <a:schemeClr val="tx2">
                    <a:lumMod val="50000"/>
                    <a:lumOff val="50000"/>
                  </a:schemeClr>
                </a:solidFill>
                <a:latin typeface="Times New Roman" charset="0"/>
                <a:ea typeface="Times New Roman" charset="0"/>
                <a:cs typeface="Times New Roman" charset="0"/>
              </a:rPr>
              <a:t>programme</a:t>
            </a:r>
            <a:r>
              <a:rPr lang="en-US" dirty="0">
                <a:solidFill>
                  <a:schemeClr val="tx2">
                    <a:lumMod val="50000"/>
                    <a:lumOff val="50000"/>
                  </a:schemeClr>
                </a:solidFill>
                <a:latin typeface="Times New Roman" charset="0"/>
                <a:ea typeface="Times New Roman" charset="0"/>
                <a:cs typeface="Times New Roman" charset="0"/>
              </a:rPr>
              <a:t> </a:t>
            </a:r>
          </a:p>
          <a:p>
            <a:pPr marL="0" indent="0">
              <a:buNone/>
            </a:pPr>
            <a:r>
              <a:rPr lang="en-US" dirty="0">
                <a:solidFill>
                  <a:schemeClr val="tx2">
                    <a:lumMod val="50000"/>
                    <a:lumOff val="50000"/>
                  </a:schemeClr>
                </a:solidFill>
                <a:latin typeface="Times New Roman" charset="0"/>
                <a:ea typeface="Times New Roman" charset="0"/>
                <a:cs typeface="Times New Roman" charset="0"/>
              </a:rPr>
              <a:t>(ii) engage in </a:t>
            </a:r>
            <a:r>
              <a:rPr lang="en-US" dirty="0">
                <a:solidFill>
                  <a:schemeClr val="tx2">
                    <a:lumMod val="50000"/>
                    <a:lumOff val="50000"/>
                  </a:schemeClr>
                </a:solidFill>
                <a:highlight>
                  <a:srgbClr val="FFFF00"/>
                </a:highlight>
                <a:latin typeface="Times New Roman" charset="0"/>
                <a:ea typeface="Times New Roman" charset="0"/>
                <a:cs typeface="Times New Roman" charset="0"/>
              </a:rPr>
              <a:t>mini role-play sessions</a:t>
            </a:r>
            <a:r>
              <a:rPr lang="en-US" dirty="0">
                <a:solidFill>
                  <a:schemeClr val="tx2">
                    <a:lumMod val="50000"/>
                    <a:lumOff val="50000"/>
                  </a:schemeClr>
                </a:solidFill>
                <a:latin typeface="Times New Roman" charset="0"/>
                <a:ea typeface="Times New Roman" charset="0"/>
                <a:cs typeface="Times New Roman" charset="0"/>
              </a:rPr>
              <a:t> simulating your counselling individual client/student</a:t>
            </a:r>
          </a:p>
          <a:p>
            <a:endParaRPr lang="en-US" dirty="0">
              <a:solidFill>
                <a:schemeClr val="tx2">
                  <a:lumMod val="50000"/>
                  <a:lumOff val="50000"/>
                </a:schemeClr>
              </a:solidFill>
              <a:latin typeface="Times New Roman" charset="0"/>
              <a:ea typeface="Times New Roman" charset="0"/>
              <a:cs typeface="Times New Roman"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81075" y="876906"/>
            <a:ext cx="10515600" cy="1325563"/>
          </a:xfrm>
        </p:spPr>
        <p:txBody>
          <a:bodyPr>
            <a:normAutofit/>
          </a:bodyPr>
          <a:lstStyle/>
          <a:p>
            <a:r>
              <a:rPr lang="en-AU" sz="2800" b="1" dirty="0">
                <a:solidFill>
                  <a:schemeClr val="tx2">
                    <a:lumMod val="50000"/>
                    <a:lumOff val="50000"/>
                  </a:schemeClr>
                </a:solidFill>
                <a:latin typeface="Times New Roman" charset="0"/>
                <a:ea typeface="Times New Roman" charset="0"/>
                <a:cs typeface="Times New Roman" charset="0"/>
              </a:rPr>
              <a:t>2. Practicum Portfolio [30%, all or none]</a:t>
            </a:r>
            <a:br>
              <a:rPr lang="en-AU" sz="2800" b="1" dirty="0">
                <a:solidFill>
                  <a:schemeClr val="tx2">
                    <a:lumMod val="50000"/>
                    <a:lumOff val="50000"/>
                  </a:schemeClr>
                </a:solidFill>
                <a:latin typeface="Times New Roman" charset="0"/>
                <a:ea typeface="Times New Roman" charset="0"/>
                <a:cs typeface="Times New Roman" charset="0"/>
              </a:rPr>
            </a:br>
            <a:endParaRPr lang="en-US" sz="2800" dirty="0">
              <a:solidFill>
                <a:schemeClr val="tx2">
                  <a:lumMod val="50000"/>
                  <a:lumOff val="50000"/>
                </a:schemeClr>
              </a:solidFill>
              <a:latin typeface="Times New Roman" charset="0"/>
              <a:ea typeface="Times New Roman" charset="0"/>
              <a:cs typeface="Times New Roman" charset="0"/>
            </a:endParaRPr>
          </a:p>
        </p:txBody>
      </p:sp>
      <p:sp>
        <p:nvSpPr>
          <p:cNvPr id="3" name="內容版面配置區 2"/>
          <p:cNvSpPr>
            <a:spLocks noGrp="1"/>
          </p:cNvSpPr>
          <p:nvPr>
            <p:ph idx="1"/>
          </p:nvPr>
        </p:nvSpPr>
        <p:spPr>
          <a:xfrm>
            <a:off x="981075" y="1856206"/>
            <a:ext cx="10515600" cy="3998306"/>
          </a:xfrm>
        </p:spPr>
        <p:txBody>
          <a:bodyPr>
            <a:normAutofit fontScale="85000" lnSpcReduction="20000"/>
          </a:bodyPr>
          <a:lstStyle/>
          <a:p>
            <a:pPr marL="800100" indent="-571500">
              <a:buClr>
                <a:schemeClr val="tx1">
                  <a:lumMod val="65000"/>
                  <a:lumOff val="35000"/>
                </a:schemeClr>
              </a:buClr>
              <a:buFont typeface="+mj-lt"/>
              <a:buAutoNum type="romanUcPeriod"/>
            </a:pPr>
            <a:r>
              <a:rPr lang="en-US" dirty="0"/>
              <a:t>The original proposal (course outline p. 25)</a:t>
            </a:r>
          </a:p>
          <a:p>
            <a:pPr marL="800100" indent="-571500">
              <a:buClr>
                <a:schemeClr val="tx1">
                  <a:lumMod val="65000"/>
                  <a:lumOff val="35000"/>
                </a:schemeClr>
              </a:buClr>
              <a:buFont typeface="+mj-lt"/>
              <a:buAutoNum type="romanUcPeriod"/>
            </a:pPr>
            <a:r>
              <a:rPr lang="en-US" dirty="0"/>
              <a:t>Self-evaluation of counselling competencies (pp. 30-31)</a:t>
            </a:r>
          </a:p>
          <a:p>
            <a:pPr marL="800100" indent="-571500">
              <a:buClr>
                <a:schemeClr val="tx1">
                  <a:lumMod val="65000"/>
                  <a:lumOff val="35000"/>
                </a:schemeClr>
              </a:buClr>
              <a:buFont typeface="+mj-lt"/>
              <a:buAutoNum type="romanUcPeriod"/>
            </a:pPr>
            <a:r>
              <a:rPr lang="en-US" dirty="0"/>
              <a:t>Records of counselling, group guidance and supervision (p. 16) </a:t>
            </a:r>
            <a:endParaRPr lang="en-HK" dirty="0"/>
          </a:p>
          <a:p>
            <a:pPr marL="800100" indent="-571500" fontAlgn="base">
              <a:buClr>
                <a:schemeClr val="tx1">
                  <a:lumMod val="65000"/>
                  <a:lumOff val="35000"/>
                </a:schemeClr>
              </a:buClr>
              <a:buFont typeface="+mj-lt"/>
              <a:buAutoNum type="romanUcPeriod"/>
            </a:pPr>
            <a:r>
              <a:rPr lang="en-GB" dirty="0"/>
              <a:t>One brief written recording of a group guidance program session (p. 19) </a:t>
            </a:r>
          </a:p>
          <a:p>
            <a:pPr marL="800100" indent="-571500" fontAlgn="base">
              <a:buClr>
                <a:schemeClr val="tx1">
                  <a:lumMod val="65000"/>
                  <a:lumOff val="35000"/>
                </a:schemeClr>
              </a:buClr>
              <a:buFont typeface="+mj-lt"/>
              <a:buAutoNum type="romanUcPeriod"/>
            </a:pPr>
            <a:r>
              <a:rPr lang="en-GB" dirty="0"/>
              <a:t>One or two brief written recordings of the individual counselling sessions (p. 20)</a:t>
            </a:r>
          </a:p>
          <a:p>
            <a:pPr marL="800100" indent="-571500" fontAlgn="base">
              <a:buClr>
                <a:schemeClr val="tx1">
                  <a:lumMod val="65000"/>
                  <a:lumOff val="35000"/>
                </a:schemeClr>
              </a:buClr>
              <a:buFont typeface="+mj-lt"/>
              <a:buAutoNum type="romanUcPeriod"/>
            </a:pPr>
            <a:r>
              <a:rPr lang="en-GB" dirty="0"/>
              <a:t>Contract Form for the practicum (p. 13)</a:t>
            </a:r>
          </a:p>
          <a:p>
            <a:pPr marL="800100" indent="-571500" fontAlgn="base">
              <a:buClr>
                <a:schemeClr val="tx1">
                  <a:lumMod val="65000"/>
                  <a:lumOff val="35000"/>
                </a:schemeClr>
              </a:buClr>
              <a:buFont typeface="+mj-lt"/>
              <a:buAutoNum type="romanUcPeriod"/>
            </a:pPr>
            <a:r>
              <a:rPr lang="en-GB" dirty="0"/>
              <a:t>Consent Forms for Principals and Parents (p. 14 and p. 15)</a:t>
            </a:r>
          </a:p>
          <a:p>
            <a:pPr marL="571500" indent="-571500">
              <a:buFont typeface="+mj-lt"/>
              <a:buAutoNum type="romanUcPeriod"/>
            </a:pPr>
            <a:endParaRPr lang="en-US" dirty="0">
              <a:solidFill>
                <a:srgbClr val="0070C0"/>
              </a:solidFill>
              <a:latin typeface="Times New Roman" charset="0"/>
              <a:ea typeface="Times New Roman" charset="0"/>
              <a:cs typeface="Times New Roman"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983269"/>
            <a:ext cx="10515600" cy="1325563"/>
          </a:xfrm>
        </p:spPr>
        <p:txBody>
          <a:bodyPr>
            <a:normAutofit/>
          </a:bodyPr>
          <a:lstStyle/>
          <a:p>
            <a:r>
              <a:rPr lang="en-AU" sz="2800" b="1" dirty="0">
                <a:solidFill>
                  <a:schemeClr val="tx2">
                    <a:lumMod val="50000"/>
                    <a:lumOff val="50000"/>
                  </a:schemeClr>
                </a:solidFill>
                <a:latin typeface="Times New Roman" charset="0"/>
                <a:ea typeface="Times New Roman" charset="0"/>
                <a:cs typeface="Times New Roman" charset="0"/>
              </a:rPr>
              <a:t>3. Reflection Paper [50%]</a:t>
            </a:r>
            <a:br>
              <a:rPr lang="en-AU" sz="2800" b="1" dirty="0">
                <a:solidFill>
                  <a:schemeClr val="tx2">
                    <a:lumMod val="50000"/>
                    <a:lumOff val="50000"/>
                  </a:schemeClr>
                </a:solidFill>
                <a:latin typeface="Times New Roman" charset="0"/>
                <a:ea typeface="Times New Roman" charset="0"/>
                <a:cs typeface="Times New Roman" charset="0"/>
              </a:rPr>
            </a:br>
            <a:endParaRPr lang="en-US" sz="2800" dirty="0">
              <a:solidFill>
                <a:schemeClr val="tx2">
                  <a:lumMod val="50000"/>
                  <a:lumOff val="50000"/>
                </a:schemeClr>
              </a:solidFill>
              <a:latin typeface="Times New Roman" charset="0"/>
              <a:ea typeface="Times New Roman" charset="0"/>
              <a:cs typeface="Times New Roman" charset="0"/>
            </a:endParaRPr>
          </a:p>
        </p:txBody>
      </p:sp>
      <p:sp>
        <p:nvSpPr>
          <p:cNvPr id="3" name="內容版面配置區 2"/>
          <p:cNvSpPr>
            <a:spLocks noGrp="1"/>
          </p:cNvSpPr>
          <p:nvPr>
            <p:ph idx="1"/>
          </p:nvPr>
        </p:nvSpPr>
        <p:spPr>
          <a:xfrm>
            <a:off x="838200" y="1876425"/>
            <a:ext cx="10515600" cy="3998306"/>
          </a:xfrm>
        </p:spPr>
        <p:txBody>
          <a:bodyPr/>
          <a:lstStyle/>
          <a:p>
            <a:pPr marL="0" indent="0">
              <a:buNone/>
            </a:pPr>
            <a:r>
              <a:rPr lang="en-GB" dirty="0">
                <a:solidFill>
                  <a:schemeClr val="tx2">
                    <a:lumMod val="50000"/>
                    <a:lumOff val="50000"/>
                  </a:schemeClr>
                </a:solidFill>
                <a:latin typeface="Times New Roman" charset="0"/>
                <a:ea typeface="Times New Roman" charset="0"/>
                <a:cs typeface="Times New Roman" charset="0"/>
              </a:rPr>
              <a:t>In your Reflection Paper, please discuss</a:t>
            </a:r>
          </a:p>
          <a:p>
            <a:pPr marL="0" indent="0">
              <a:buNone/>
            </a:pPr>
            <a:r>
              <a:rPr lang="en-GB" dirty="0">
                <a:solidFill>
                  <a:schemeClr val="tx2">
                    <a:lumMod val="50000"/>
                    <a:lumOff val="50000"/>
                  </a:schemeClr>
                </a:solidFill>
                <a:latin typeface="Times New Roman" charset="0"/>
                <a:ea typeface="Times New Roman" charset="0"/>
                <a:cs typeface="Times New Roman" charset="0"/>
              </a:rPr>
              <a:t>(</a:t>
            </a:r>
            <a:r>
              <a:rPr lang="en-GB" dirty="0" err="1">
                <a:solidFill>
                  <a:schemeClr val="tx2">
                    <a:lumMod val="50000"/>
                    <a:lumOff val="50000"/>
                  </a:schemeClr>
                </a:solidFill>
                <a:latin typeface="Times New Roman" charset="0"/>
                <a:ea typeface="Times New Roman" charset="0"/>
                <a:cs typeface="Times New Roman" charset="0"/>
              </a:rPr>
              <a:t>i</a:t>
            </a:r>
            <a:r>
              <a:rPr lang="en-GB" dirty="0">
                <a:solidFill>
                  <a:schemeClr val="tx2">
                    <a:lumMod val="50000"/>
                    <a:lumOff val="50000"/>
                  </a:schemeClr>
                </a:solidFill>
                <a:latin typeface="Times New Roman" charset="0"/>
                <a:ea typeface="Times New Roman" charset="0"/>
                <a:cs typeface="Times New Roman" charset="0"/>
              </a:rPr>
              <a:t>) </a:t>
            </a:r>
            <a:r>
              <a:rPr lang="en-GB" b="1" u="sng" dirty="0">
                <a:solidFill>
                  <a:srgbClr val="7030A0"/>
                </a:solidFill>
                <a:latin typeface="Times New Roman" charset="0"/>
                <a:ea typeface="Times New Roman" charset="0"/>
                <a:cs typeface="Times New Roman" charset="0"/>
              </a:rPr>
              <a:t>critical </a:t>
            </a:r>
            <a:r>
              <a:rPr lang="en-US" b="1" u="sng" dirty="0">
                <a:solidFill>
                  <a:srgbClr val="7030A0"/>
                </a:solidFill>
                <a:latin typeface="Times New Roman" charset="0"/>
                <a:ea typeface="Times New Roman" charset="0"/>
                <a:cs typeface="Times New Roman" charset="0"/>
              </a:rPr>
              <a:t>issues*</a:t>
            </a:r>
            <a:r>
              <a:rPr lang="en-US" dirty="0">
                <a:solidFill>
                  <a:schemeClr val="tx2">
                    <a:lumMod val="50000"/>
                    <a:lumOff val="50000"/>
                  </a:schemeClr>
                </a:solidFill>
                <a:latin typeface="Times New Roman" charset="0"/>
                <a:ea typeface="Times New Roman" charset="0"/>
                <a:cs typeface="Times New Roman" charset="0"/>
              </a:rPr>
              <a:t> in implementing counselling and group guidance in the school, and </a:t>
            </a:r>
          </a:p>
          <a:p>
            <a:pPr marL="0" indent="0">
              <a:buNone/>
            </a:pPr>
            <a:r>
              <a:rPr lang="en-US" dirty="0">
                <a:solidFill>
                  <a:schemeClr val="tx2">
                    <a:lumMod val="50000"/>
                    <a:lumOff val="50000"/>
                  </a:schemeClr>
                </a:solidFill>
                <a:latin typeface="Times New Roman" charset="0"/>
                <a:ea typeface="Times New Roman" charset="0"/>
                <a:cs typeface="Times New Roman" charset="0"/>
              </a:rPr>
              <a:t>(ii) effective ways of </a:t>
            </a:r>
            <a:r>
              <a:rPr lang="en-US" b="1" u="sng" dirty="0">
                <a:solidFill>
                  <a:srgbClr val="00B050"/>
                </a:solidFill>
                <a:latin typeface="Times New Roman" charset="0"/>
                <a:ea typeface="Times New Roman" charset="0"/>
                <a:cs typeface="Times New Roman" charset="0"/>
              </a:rPr>
              <a:t>integrating</a:t>
            </a:r>
            <a:r>
              <a:rPr lang="en-US" dirty="0">
                <a:solidFill>
                  <a:schemeClr val="tx2">
                    <a:lumMod val="50000"/>
                    <a:lumOff val="50000"/>
                  </a:schemeClr>
                </a:solidFill>
                <a:latin typeface="Times New Roman" charset="0"/>
                <a:ea typeface="Times New Roman" charset="0"/>
                <a:cs typeface="Times New Roman" charset="0"/>
              </a:rPr>
              <a:t> counselling and group guidance principles and concepts in your work with students and parents</a:t>
            </a:r>
          </a:p>
          <a:p>
            <a:pPr marL="0" indent="0">
              <a:buNone/>
            </a:pPr>
            <a:endParaRPr lang="en-US" dirty="0">
              <a:solidFill>
                <a:schemeClr val="tx2">
                  <a:lumMod val="50000"/>
                  <a:lumOff val="50000"/>
                </a:schemeClr>
              </a:solidFill>
              <a:latin typeface="Times New Roman" charset="0"/>
              <a:ea typeface="Times New Roman" charset="0"/>
              <a:cs typeface="Times New Roman" charset="0"/>
            </a:endParaRPr>
          </a:p>
          <a:p>
            <a:pPr marL="0" indent="0">
              <a:buNone/>
            </a:pPr>
            <a:r>
              <a:rPr lang="en-US" sz="2400" i="1" dirty="0">
                <a:solidFill>
                  <a:schemeClr val="tx2">
                    <a:lumMod val="50000"/>
                    <a:lumOff val="50000"/>
                  </a:schemeClr>
                </a:solidFill>
                <a:latin typeface="Times New Roman" charset="0"/>
                <a:ea typeface="Times New Roman" charset="0"/>
                <a:cs typeface="Times New Roman" charset="0"/>
              </a:rPr>
              <a:t>*Length of paper: maximum 2,000 words (excluding references and appendix)</a:t>
            </a:r>
          </a:p>
          <a:p>
            <a:pPr marL="0" indent="0">
              <a:buNone/>
            </a:pPr>
            <a:endParaRPr lang="en-US" dirty="0">
              <a:solidFill>
                <a:schemeClr val="tx2">
                  <a:lumMod val="50000"/>
                  <a:lumOff val="50000"/>
                </a:schemeClr>
              </a:solidFill>
              <a:latin typeface="Times New Roman" charset="0"/>
              <a:ea typeface="Times New Roman" charset="0"/>
              <a:cs typeface="Times New Roman"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EE4D0-15BB-974A-97EC-02DF32E37614}"/>
              </a:ext>
            </a:extLst>
          </p:cNvPr>
          <p:cNvSpPr>
            <a:spLocks noGrp="1"/>
          </p:cNvSpPr>
          <p:nvPr>
            <p:ph type="title"/>
          </p:nvPr>
        </p:nvSpPr>
        <p:spPr/>
        <p:txBody>
          <a:bodyPr/>
          <a:lstStyle/>
          <a:p>
            <a:r>
              <a:rPr lang="en-US" dirty="0"/>
              <a:t>Examples of “Critical Issues”</a:t>
            </a:r>
          </a:p>
        </p:txBody>
      </p:sp>
      <p:sp>
        <p:nvSpPr>
          <p:cNvPr id="3" name="Content Placeholder 2">
            <a:extLst>
              <a:ext uri="{FF2B5EF4-FFF2-40B4-BE49-F238E27FC236}">
                <a16:creationId xmlns:a16="http://schemas.microsoft.com/office/drawing/2014/main" id="{9516A25A-E2EF-054E-81EB-1692D26642DF}"/>
              </a:ext>
            </a:extLst>
          </p:cNvPr>
          <p:cNvSpPr>
            <a:spLocks noGrp="1"/>
          </p:cNvSpPr>
          <p:nvPr>
            <p:ph idx="1"/>
          </p:nvPr>
        </p:nvSpPr>
        <p:spPr>
          <a:xfrm>
            <a:off x="838200" y="2006600"/>
            <a:ext cx="10515600" cy="3998306"/>
          </a:xfrm>
        </p:spPr>
        <p:txBody>
          <a:bodyPr>
            <a:normAutofit fontScale="62500" lnSpcReduction="20000"/>
          </a:bodyPr>
          <a:lstStyle/>
          <a:p>
            <a:pPr marL="228600" indent="0">
              <a:buClr>
                <a:schemeClr val="tx2">
                  <a:lumMod val="75000"/>
                  <a:lumOff val="25000"/>
                </a:schemeClr>
              </a:buClr>
              <a:buNone/>
            </a:pPr>
            <a:r>
              <a:rPr lang="en-GB" dirty="0">
                <a:solidFill>
                  <a:srgbClr val="7030A0">
                    <a:alpha val="70000"/>
                  </a:srgbClr>
                </a:solidFill>
              </a:rPr>
              <a:t>*Some ideas for your consideration although you are NOT required to stick to these questions, nor should you feel obliged to cover ALL of them</a:t>
            </a:r>
            <a:endParaRPr lang="en-HK" dirty="0">
              <a:solidFill>
                <a:srgbClr val="7030A0">
                  <a:alpha val="70000"/>
                </a:srgbClr>
              </a:solidFill>
            </a:endParaRPr>
          </a:p>
          <a:p>
            <a:pPr marL="742950" lvl="0" indent="-514350">
              <a:buClr>
                <a:schemeClr val="tx2">
                  <a:lumMod val="75000"/>
                  <a:lumOff val="25000"/>
                </a:schemeClr>
              </a:buClr>
              <a:buFont typeface="+mj-lt"/>
              <a:buAutoNum type="arabicPeriod"/>
            </a:pPr>
            <a:r>
              <a:rPr lang="en-AU" i="1" dirty="0">
                <a:solidFill>
                  <a:schemeClr val="tx1">
                    <a:alpha val="70000"/>
                  </a:schemeClr>
                </a:solidFill>
              </a:rPr>
              <a:t>How did I </a:t>
            </a:r>
            <a:r>
              <a:rPr lang="en-AU" i="1" dirty="0">
                <a:solidFill>
                  <a:schemeClr val="tx1">
                    <a:alpha val="70000"/>
                  </a:schemeClr>
                </a:solidFill>
                <a:highlight>
                  <a:srgbClr val="FFFF00"/>
                </a:highlight>
              </a:rPr>
              <a:t>recruit</a:t>
            </a:r>
            <a:r>
              <a:rPr lang="en-AU" i="1" dirty="0">
                <a:solidFill>
                  <a:schemeClr val="tx1">
                    <a:alpha val="70000"/>
                  </a:schemeClr>
                </a:solidFill>
              </a:rPr>
              <a:t> my participants? What </a:t>
            </a:r>
            <a:r>
              <a:rPr lang="en-AU" i="1" dirty="0">
                <a:solidFill>
                  <a:schemeClr val="tx1">
                    <a:alpha val="70000"/>
                  </a:schemeClr>
                </a:solidFill>
                <a:highlight>
                  <a:srgbClr val="FFFF00"/>
                </a:highlight>
              </a:rPr>
              <a:t>factors</a:t>
            </a:r>
            <a:r>
              <a:rPr lang="en-AU" i="1" dirty="0">
                <a:solidFill>
                  <a:schemeClr val="tx1">
                    <a:alpha val="70000"/>
                  </a:schemeClr>
                </a:solidFill>
              </a:rPr>
              <a:t> have I considered when I recruited them in my group guidance programme?</a:t>
            </a:r>
            <a:endParaRPr lang="en-HK" dirty="0">
              <a:solidFill>
                <a:schemeClr val="tx1">
                  <a:alpha val="70000"/>
                </a:schemeClr>
              </a:solidFill>
            </a:endParaRPr>
          </a:p>
          <a:p>
            <a:pPr marL="742950" lvl="0" indent="-514350">
              <a:buClr>
                <a:schemeClr val="tx2">
                  <a:lumMod val="75000"/>
                  <a:lumOff val="25000"/>
                </a:schemeClr>
              </a:buClr>
              <a:buFont typeface="+mj-lt"/>
              <a:buAutoNum type="arabicPeriod"/>
            </a:pPr>
            <a:r>
              <a:rPr lang="en-AU" i="1" dirty="0">
                <a:solidFill>
                  <a:schemeClr val="tx1">
                    <a:alpha val="70000"/>
                  </a:schemeClr>
                </a:solidFill>
              </a:rPr>
              <a:t>What are your personal thoughts about the </a:t>
            </a:r>
            <a:r>
              <a:rPr lang="en-AU" i="1" dirty="0">
                <a:solidFill>
                  <a:schemeClr val="tx1">
                    <a:alpha val="70000"/>
                  </a:schemeClr>
                </a:solidFill>
                <a:highlight>
                  <a:srgbClr val="FFFF00"/>
                </a:highlight>
              </a:rPr>
              <a:t>design and implementation</a:t>
            </a:r>
            <a:r>
              <a:rPr lang="en-AU" i="1" dirty="0">
                <a:solidFill>
                  <a:schemeClr val="tx1">
                    <a:alpha val="70000"/>
                  </a:schemeClr>
                </a:solidFill>
              </a:rPr>
              <a:t> of your guidance activities?</a:t>
            </a:r>
            <a:endParaRPr lang="en-HK" dirty="0">
              <a:solidFill>
                <a:schemeClr val="tx1">
                  <a:alpha val="70000"/>
                </a:schemeClr>
              </a:solidFill>
            </a:endParaRPr>
          </a:p>
          <a:p>
            <a:pPr marL="742950" lvl="0" indent="-514350">
              <a:buClr>
                <a:schemeClr val="tx2">
                  <a:lumMod val="75000"/>
                  <a:lumOff val="25000"/>
                </a:schemeClr>
              </a:buClr>
              <a:buFont typeface="+mj-lt"/>
              <a:buAutoNum type="arabicPeriod"/>
            </a:pPr>
            <a:r>
              <a:rPr lang="en-AU" i="1" dirty="0">
                <a:solidFill>
                  <a:schemeClr val="tx1">
                    <a:alpha val="70000"/>
                  </a:schemeClr>
                </a:solidFill>
              </a:rPr>
              <a:t>What were some important </a:t>
            </a:r>
            <a:r>
              <a:rPr lang="en-AU" i="1" dirty="0">
                <a:solidFill>
                  <a:schemeClr val="tx1">
                    <a:alpha val="70000"/>
                  </a:schemeClr>
                </a:solidFill>
                <a:highlight>
                  <a:srgbClr val="FFFF00"/>
                </a:highlight>
              </a:rPr>
              <a:t>ethical considerations</a:t>
            </a:r>
            <a:r>
              <a:rPr lang="en-AU" i="1" dirty="0">
                <a:solidFill>
                  <a:schemeClr val="tx1">
                    <a:alpha val="70000"/>
                  </a:schemeClr>
                </a:solidFill>
              </a:rPr>
              <a:t> that you have considered? What were they? What were your struggles? How did you manage to resolve the matter or conflict, if any?</a:t>
            </a:r>
            <a:endParaRPr lang="en-HK" dirty="0">
              <a:solidFill>
                <a:schemeClr val="tx1">
                  <a:alpha val="70000"/>
                </a:schemeClr>
              </a:solidFill>
            </a:endParaRPr>
          </a:p>
          <a:p>
            <a:pPr marL="742950" lvl="0" indent="-514350">
              <a:buClr>
                <a:schemeClr val="tx2">
                  <a:lumMod val="75000"/>
                  <a:lumOff val="25000"/>
                </a:schemeClr>
              </a:buClr>
              <a:buFont typeface="+mj-lt"/>
              <a:buAutoNum type="arabicPeriod"/>
            </a:pPr>
            <a:r>
              <a:rPr lang="en-AU" i="1" dirty="0">
                <a:solidFill>
                  <a:schemeClr val="tx1">
                    <a:alpha val="70000"/>
                  </a:schemeClr>
                </a:solidFill>
              </a:rPr>
              <a:t>Any sharing about your </a:t>
            </a:r>
            <a:r>
              <a:rPr lang="en-AU" i="1" dirty="0">
                <a:solidFill>
                  <a:schemeClr val="tx1">
                    <a:alpha val="70000"/>
                  </a:schemeClr>
                </a:solidFill>
                <a:highlight>
                  <a:srgbClr val="FFFF00"/>
                </a:highlight>
              </a:rPr>
              <a:t>personal discovery</a:t>
            </a:r>
            <a:r>
              <a:rPr lang="en-AU" i="1" dirty="0">
                <a:solidFill>
                  <a:schemeClr val="tx1">
                    <a:alpha val="70000"/>
                  </a:schemeClr>
                </a:solidFill>
              </a:rPr>
              <a:t> as a guidance personnel? Is there any </a:t>
            </a:r>
            <a:r>
              <a:rPr lang="en-AU" i="1" dirty="0">
                <a:solidFill>
                  <a:schemeClr val="tx1">
                    <a:alpha val="70000"/>
                  </a:schemeClr>
                </a:solidFill>
                <a:highlight>
                  <a:srgbClr val="FFFF00"/>
                </a:highlight>
              </a:rPr>
              <a:t>personal growth</a:t>
            </a:r>
            <a:r>
              <a:rPr lang="en-AU" i="1" dirty="0">
                <a:solidFill>
                  <a:schemeClr val="tx1">
                    <a:alpha val="70000"/>
                  </a:schemeClr>
                </a:solidFill>
              </a:rPr>
              <a:t> you would like to talk about? How about </a:t>
            </a:r>
            <a:r>
              <a:rPr lang="en-AU" i="1" dirty="0">
                <a:solidFill>
                  <a:schemeClr val="tx1">
                    <a:alpha val="70000"/>
                  </a:schemeClr>
                </a:solidFill>
                <a:highlight>
                  <a:srgbClr val="FFFF00"/>
                </a:highlight>
              </a:rPr>
              <a:t>professional growth</a:t>
            </a:r>
            <a:r>
              <a:rPr lang="en-AU" i="1" dirty="0">
                <a:solidFill>
                  <a:schemeClr val="tx1">
                    <a:alpha val="70000"/>
                  </a:schemeClr>
                </a:solidFill>
              </a:rPr>
              <a:t> as a guidance personnel? Any gains in skills and knowledge when you implemented the guidance activities and individual counselling? </a:t>
            </a:r>
            <a:endParaRPr lang="en-HK" dirty="0">
              <a:solidFill>
                <a:schemeClr val="tx1">
                  <a:alpha val="70000"/>
                </a:schemeClr>
              </a:solidFill>
            </a:endParaRPr>
          </a:p>
          <a:p>
            <a:pPr>
              <a:buClr>
                <a:schemeClr val="tx2">
                  <a:lumMod val="75000"/>
                  <a:lumOff val="25000"/>
                </a:schemeClr>
              </a:buClr>
            </a:pPr>
            <a:endParaRPr lang="en-US" dirty="0"/>
          </a:p>
        </p:txBody>
      </p:sp>
    </p:spTree>
    <p:extLst>
      <p:ext uri="{BB962C8B-B14F-4D97-AF65-F5344CB8AC3E}">
        <p14:creationId xmlns:p14="http://schemas.microsoft.com/office/powerpoint/2010/main" val="3080836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lgn="ctr" eaLnBrk="1" hangingPunct="1">
              <a:defRPr/>
            </a:pPr>
            <a:r>
              <a:rPr lang="en-US" altLang="zh-TW" b="1" dirty="0">
                <a:solidFill>
                  <a:schemeClr val="tx2">
                    <a:lumMod val="50000"/>
                    <a:lumOff val="50000"/>
                  </a:schemeClr>
                </a:solidFill>
                <a:latin typeface="Times New Roman" charset="0"/>
                <a:ea typeface="Times New Roman" charset="0"/>
                <a:cs typeface="Times New Roman" charset="0"/>
              </a:rPr>
              <a:t>Assessment Criteria </a:t>
            </a:r>
            <a:br>
              <a:rPr lang="en-US" altLang="zh-TW" b="1" dirty="0">
                <a:solidFill>
                  <a:schemeClr val="tx2">
                    <a:lumMod val="50000"/>
                    <a:lumOff val="50000"/>
                  </a:schemeClr>
                </a:solidFill>
                <a:latin typeface="Times New Roman" charset="0"/>
                <a:ea typeface="Times New Roman" charset="0"/>
                <a:cs typeface="Times New Roman" charset="0"/>
              </a:rPr>
            </a:br>
            <a:r>
              <a:rPr lang="en-US" altLang="zh-TW" sz="3200" b="1" dirty="0">
                <a:solidFill>
                  <a:schemeClr val="tx2">
                    <a:lumMod val="50000"/>
                    <a:lumOff val="50000"/>
                  </a:schemeClr>
                </a:solidFill>
                <a:latin typeface="Times New Roman" charset="0"/>
                <a:ea typeface="Times New Roman" charset="0"/>
                <a:cs typeface="Times New Roman" charset="0"/>
              </a:rPr>
              <a:t>(Course Outline, p. 9)</a:t>
            </a:r>
            <a:endParaRPr lang="en-US" altLang="zh-TW" b="1" dirty="0">
              <a:solidFill>
                <a:schemeClr val="tx2">
                  <a:lumMod val="50000"/>
                  <a:lumOff val="50000"/>
                </a:schemeClr>
              </a:solidFill>
              <a:latin typeface="Times New Roman" charset="0"/>
              <a:ea typeface="Times New Roman" charset="0"/>
              <a:cs typeface="Times New Roman" charset="0"/>
            </a:endParaRPr>
          </a:p>
        </p:txBody>
      </p:sp>
      <p:sp>
        <p:nvSpPr>
          <p:cNvPr id="14340" name="Rectangle 3"/>
          <p:cNvSpPr>
            <a:spLocks noGrp="1" noChangeArrowheads="1"/>
          </p:cNvSpPr>
          <p:nvPr>
            <p:ph idx="1"/>
          </p:nvPr>
        </p:nvSpPr>
        <p:spPr>
          <a:xfrm>
            <a:off x="838200" y="2006600"/>
            <a:ext cx="10515600" cy="3998306"/>
          </a:xfrm>
        </p:spPr>
        <p:txBody>
          <a:bodyPr>
            <a:normAutofit/>
          </a:bodyPr>
          <a:lstStyle/>
          <a:p>
            <a:pPr marL="685800" indent="-457200" eaLnBrk="1" hangingPunct="1">
              <a:lnSpc>
                <a:spcPct val="150000"/>
              </a:lnSpc>
              <a:buClr>
                <a:schemeClr val="tx1">
                  <a:lumMod val="50000"/>
                  <a:lumOff val="50000"/>
                </a:schemeClr>
              </a:buClr>
              <a:buFont typeface="+mj-lt"/>
              <a:buAutoNum type="arabicPeriod"/>
            </a:pPr>
            <a:r>
              <a:rPr lang="en-US" altLang="zh-TW" sz="2000" b="1" dirty="0">
                <a:solidFill>
                  <a:schemeClr val="accent4">
                    <a:lumMod val="75000"/>
                    <a:alpha val="70000"/>
                  </a:schemeClr>
                </a:solidFill>
                <a:latin typeface="Times New Roman" charset="0"/>
                <a:ea typeface="Times New Roman" charset="0"/>
                <a:cs typeface="Times New Roman" charset="0"/>
              </a:rPr>
              <a:t>Understanding</a:t>
            </a:r>
            <a:r>
              <a:rPr lang="en-US" altLang="zh-TW" sz="2000" dirty="0">
                <a:solidFill>
                  <a:schemeClr val="tx2">
                    <a:lumMod val="75000"/>
                    <a:lumOff val="25000"/>
                    <a:alpha val="70000"/>
                  </a:schemeClr>
                </a:solidFill>
                <a:latin typeface="Times New Roman" charset="0"/>
                <a:ea typeface="Times New Roman" charset="0"/>
                <a:cs typeface="Times New Roman" charset="0"/>
              </a:rPr>
              <a:t> of the task and key concepts/issues involved;</a:t>
            </a:r>
          </a:p>
          <a:p>
            <a:pPr marL="685800" indent="-457200" eaLnBrk="1" hangingPunct="1">
              <a:lnSpc>
                <a:spcPct val="150000"/>
              </a:lnSpc>
              <a:buClr>
                <a:schemeClr val="tx1">
                  <a:lumMod val="50000"/>
                  <a:lumOff val="50000"/>
                </a:schemeClr>
              </a:buClr>
              <a:buFont typeface="+mj-lt"/>
              <a:buAutoNum type="arabicPeriod"/>
            </a:pPr>
            <a:r>
              <a:rPr lang="en-US" altLang="zh-TW" sz="2000" b="1" dirty="0">
                <a:solidFill>
                  <a:schemeClr val="accent4">
                    <a:lumMod val="75000"/>
                    <a:alpha val="70000"/>
                  </a:schemeClr>
                </a:solidFill>
                <a:latin typeface="Times New Roman" charset="0"/>
                <a:ea typeface="Times New Roman" charset="0"/>
                <a:cs typeface="Times New Roman" charset="0"/>
              </a:rPr>
              <a:t>Depth</a:t>
            </a:r>
            <a:r>
              <a:rPr lang="en-US" altLang="zh-TW" sz="2000" dirty="0">
                <a:solidFill>
                  <a:schemeClr val="tx2">
                    <a:lumMod val="75000"/>
                    <a:lumOff val="25000"/>
                    <a:alpha val="70000"/>
                  </a:schemeClr>
                </a:solidFill>
                <a:latin typeface="Times New Roman" charset="0"/>
                <a:ea typeface="Times New Roman" charset="0"/>
                <a:cs typeface="Times New Roman" charset="0"/>
              </a:rPr>
              <a:t> of analysis and/or critique in response to the task, </a:t>
            </a:r>
          </a:p>
          <a:p>
            <a:pPr marL="685800" indent="-457200" eaLnBrk="1" hangingPunct="1">
              <a:lnSpc>
                <a:spcPct val="150000"/>
              </a:lnSpc>
              <a:buClr>
                <a:schemeClr val="tx1">
                  <a:lumMod val="50000"/>
                  <a:lumOff val="50000"/>
                </a:schemeClr>
              </a:buClr>
              <a:buFont typeface="+mj-lt"/>
              <a:buAutoNum type="arabicPeriod"/>
            </a:pPr>
            <a:r>
              <a:rPr lang="en-US" altLang="zh-TW" sz="2000" dirty="0">
                <a:solidFill>
                  <a:schemeClr val="tx2">
                    <a:lumMod val="75000"/>
                    <a:lumOff val="25000"/>
                    <a:alpha val="70000"/>
                  </a:schemeClr>
                </a:solidFill>
                <a:latin typeface="Times New Roman" charset="0"/>
                <a:ea typeface="Times New Roman" charset="0"/>
                <a:cs typeface="Times New Roman" charset="0"/>
              </a:rPr>
              <a:t>Use of appropriate professional and/or research </a:t>
            </a:r>
            <a:r>
              <a:rPr lang="en-US" altLang="zh-TW" sz="2000" b="1" dirty="0">
                <a:solidFill>
                  <a:schemeClr val="accent4">
                    <a:lumMod val="75000"/>
                    <a:alpha val="70000"/>
                  </a:schemeClr>
                </a:solidFill>
                <a:latin typeface="Times New Roman" charset="0"/>
                <a:ea typeface="Times New Roman" charset="0"/>
                <a:cs typeface="Times New Roman" charset="0"/>
              </a:rPr>
              <a:t>literature</a:t>
            </a:r>
            <a:r>
              <a:rPr lang="en-US" altLang="zh-TW" sz="2000" dirty="0">
                <a:solidFill>
                  <a:schemeClr val="tx2">
                    <a:lumMod val="75000"/>
                    <a:lumOff val="25000"/>
                    <a:alpha val="70000"/>
                  </a:schemeClr>
                </a:solidFill>
                <a:latin typeface="Times New Roman" charset="0"/>
                <a:ea typeface="Times New Roman" charset="0"/>
                <a:cs typeface="Times New Roman" charset="0"/>
              </a:rPr>
              <a:t> to support response; </a:t>
            </a:r>
          </a:p>
          <a:p>
            <a:pPr marL="685800" indent="-457200" eaLnBrk="1" hangingPunct="1">
              <a:lnSpc>
                <a:spcPct val="150000"/>
              </a:lnSpc>
              <a:buClr>
                <a:schemeClr val="tx1">
                  <a:lumMod val="50000"/>
                  <a:lumOff val="50000"/>
                </a:schemeClr>
              </a:buClr>
              <a:buFont typeface="+mj-lt"/>
              <a:buAutoNum type="arabicPeriod"/>
            </a:pPr>
            <a:r>
              <a:rPr lang="en-US" altLang="zh-TW" sz="2000" b="1" dirty="0">
                <a:solidFill>
                  <a:schemeClr val="accent4">
                    <a:lumMod val="75000"/>
                    <a:alpha val="70000"/>
                  </a:schemeClr>
                </a:solidFill>
                <a:latin typeface="Times New Roman" charset="0"/>
                <a:ea typeface="Times New Roman" charset="0"/>
                <a:cs typeface="Times New Roman" charset="0"/>
              </a:rPr>
              <a:t>Structure</a:t>
            </a:r>
            <a:r>
              <a:rPr lang="en-US" altLang="zh-TW" sz="2000" dirty="0">
                <a:solidFill>
                  <a:schemeClr val="tx2">
                    <a:lumMod val="75000"/>
                    <a:lumOff val="25000"/>
                    <a:alpha val="70000"/>
                  </a:schemeClr>
                </a:solidFill>
                <a:latin typeface="Times New Roman" charset="0"/>
                <a:ea typeface="Times New Roman" charset="0"/>
                <a:cs typeface="Times New Roman" charset="0"/>
              </a:rPr>
              <a:t> and </a:t>
            </a:r>
            <a:r>
              <a:rPr lang="en-US" altLang="zh-TW" sz="2000" b="1" dirty="0">
                <a:solidFill>
                  <a:schemeClr val="accent4">
                    <a:lumMod val="75000"/>
                    <a:alpha val="70000"/>
                  </a:schemeClr>
                </a:solidFill>
                <a:latin typeface="Times New Roman" charset="0"/>
                <a:ea typeface="Times New Roman" charset="0"/>
                <a:cs typeface="Times New Roman" charset="0"/>
              </a:rPr>
              <a:t>organization</a:t>
            </a:r>
            <a:r>
              <a:rPr lang="en-US" altLang="zh-TW" sz="2000" dirty="0">
                <a:solidFill>
                  <a:schemeClr val="tx2">
                    <a:lumMod val="75000"/>
                    <a:lumOff val="25000"/>
                    <a:alpha val="70000"/>
                  </a:schemeClr>
                </a:solidFill>
                <a:latin typeface="Times New Roman" charset="0"/>
                <a:ea typeface="Times New Roman" charset="0"/>
                <a:cs typeface="Times New Roman" charset="0"/>
              </a:rPr>
              <a:t> of response;</a:t>
            </a:r>
          </a:p>
          <a:p>
            <a:pPr marL="685800" indent="-457200" eaLnBrk="1" hangingPunct="1">
              <a:lnSpc>
                <a:spcPct val="150000"/>
              </a:lnSpc>
              <a:buClr>
                <a:schemeClr val="tx1">
                  <a:lumMod val="50000"/>
                  <a:lumOff val="50000"/>
                </a:schemeClr>
              </a:buClr>
              <a:buFont typeface="+mj-lt"/>
              <a:buAutoNum type="arabicPeriod"/>
            </a:pPr>
            <a:r>
              <a:rPr lang="en-US" altLang="zh-TW" sz="2000" dirty="0">
                <a:solidFill>
                  <a:schemeClr val="tx2">
                    <a:lumMod val="75000"/>
                    <a:lumOff val="25000"/>
                    <a:alpha val="70000"/>
                  </a:schemeClr>
                </a:solidFill>
                <a:latin typeface="Times New Roman" charset="0"/>
                <a:ea typeface="Times New Roman" charset="0"/>
                <a:cs typeface="Times New Roman" charset="0"/>
              </a:rPr>
              <a:t>Presentation of response according to appropriate </a:t>
            </a:r>
            <a:r>
              <a:rPr lang="en-US" altLang="zh-TW" sz="2000" b="1" dirty="0">
                <a:solidFill>
                  <a:schemeClr val="accent4">
                    <a:lumMod val="75000"/>
                    <a:alpha val="70000"/>
                  </a:schemeClr>
                </a:solidFill>
                <a:latin typeface="Times New Roman" charset="0"/>
                <a:ea typeface="Times New Roman" charset="0"/>
                <a:cs typeface="Times New Roman" charset="0"/>
              </a:rPr>
              <a:t>academic and linguistic conventions</a:t>
            </a:r>
            <a:r>
              <a:rPr lang="en-US" altLang="zh-TW" sz="2000" dirty="0">
                <a:solidFill>
                  <a:schemeClr val="tx2">
                    <a:lumMod val="75000"/>
                    <a:lumOff val="25000"/>
                    <a:alpha val="70000"/>
                  </a:schemeClr>
                </a:solidFill>
                <a:latin typeface="Times New Roman" charset="0"/>
                <a:ea typeface="Times New Roman" charset="0"/>
                <a:cs typeface="Times New Roman" charset="0"/>
              </a:rPr>
              <a:t>. </a:t>
            </a:r>
          </a:p>
          <a:p>
            <a:pPr marL="742950" indent="-514350" eaLnBrk="1" hangingPunct="1">
              <a:lnSpc>
                <a:spcPct val="150000"/>
              </a:lnSpc>
              <a:buClr>
                <a:schemeClr val="tx1">
                  <a:lumMod val="50000"/>
                  <a:lumOff val="50000"/>
                </a:schemeClr>
              </a:buClr>
              <a:buFont typeface="+mj-lt"/>
              <a:buAutoNum type="arabicPeriod"/>
            </a:pPr>
            <a:endParaRPr lang="en-US" altLang="zh-TW" sz="2400" dirty="0">
              <a:solidFill>
                <a:schemeClr val="tx2">
                  <a:lumMod val="75000"/>
                  <a:lumOff val="25000"/>
                  <a:alpha val="70000"/>
                </a:schemeClr>
              </a:solidFill>
              <a:latin typeface="Times New Roman" charset="0"/>
              <a:ea typeface="Times New Roman" charset="0"/>
              <a:cs typeface="Times New Roman" charset="0"/>
            </a:endParaRPr>
          </a:p>
        </p:txBody>
      </p:sp>
      <p:sp>
        <p:nvSpPr>
          <p:cNvPr id="14338" name="Slide Number Placeholder 5"/>
          <p:cNvSpPr>
            <a:spLocks noGrp="1"/>
          </p:cNvSpPr>
          <p:nvPr>
            <p:ph type="sldNum" sz="quarter" idx="12"/>
          </p:nvPr>
        </p:nvSpPr>
        <p:spPr>
          <a:noFill/>
        </p:spPr>
        <p:txBody>
          <a:bodyPr>
            <a:normAutofit/>
          </a:bodyPr>
          <a:lstStyle/>
          <a:p>
            <a:fld id="{C829E25E-9B51-41E6-BB6E-8B0397F83FDE}" type="slidenum">
              <a:rPr lang="zh-TW" altLang="en-US" smtClean="0"/>
              <a:pPr/>
              <a:t>20</a:t>
            </a:fld>
            <a:endParaRPr lang="en-US" altLang="zh-TW"/>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853094"/>
            <a:ext cx="10515600" cy="1325563"/>
          </a:xfrm>
        </p:spPr>
        <p:txBody>
          <a:bodyPr>
            <a:normAutofit fontScale="90000"/>
          </a:bodyPr>
          <a:lstStyle/>
          <a:p>
            <a:pPr algn="ctr"/>
            <a:r>
              <a:rPr lang="en-US" b="1">
                <a:solidFill>
                  <a:schemeClr val="tx2">
                    <a:lumMod val="50000"/>
                    <a:lumOff val="50000"/>
                  </a:schemeClr>
                </a:solidFill>
                <a:latin typeface="Times New Roman" charset="0"/>
                <a:ea typeface="Times New Roman" charset="0"/>
                <a:cs typeface="Times New Roman" charset="0"/>
              </a:rPr>
              <a:t>Important Ethical Considerations</a:t>
            </a:r>
            <a:br>
              <a:rPr lang="en-US">
                <a:solidFill>
                  <a:schemeClr val="tx2">
                    <a:lumMod val="50000"/>
                    <a:lumOff val="50000"/>
                  </a:schemeClr>
                </a:solidFill>
                <a:latin typeface="Times New Roman" charset="0"/>
                <a:ea typeface="Times New Roman" charset="0"/>
                <a:cs typeface="Times New Roman" charset="0"/>
              </a:rPr>
            </a:br>
            <a:endParaRPr lang="en-US" dirty="0">
              <a:solidFill>
                <a:schemeClr val="tx2">
                  <a:lumMod val="50000"/>
                  <a:lumOff val="50000"/>
                </a:schemeClr>
              </a:solidFill>
              <a:latin typeface="Times New Roman" charset="0"/>
              <a:ea typeface="Times New Roman" charset="0"/>
              <a:cs typeface="Times New Roman" charset="0"/>
            </a:endParaRPr>
          </a:p>
        </p:txBody>
      </p:sp>
      <p:sp>
        <p:nvSpPr>
          <p:cNvPr id="3" name="內容版面配置區 2"/>
          <p:cNvSpPr>
            <a:spLocks noGrp="1"/>
          </p:cNvSpPr>
          <p:nvPr>
            <p:ph idx="1"/>
          </p:nvPr>
        </p:nvSpPr>
        <p:spPr>
          <a:xfrm>
            <a:off x="838200" y="2178657"/>
            <a:ext cx="10515600" cy="3998306"/>
          </a:xfrm>
        </p:spPr>
        <p:txBody>
          <a:bodyPr>
            <a:noAutofit/>
          </a:bodyPr>
          <a:lstStyle/>
          <a:p>
            <a:pPr marL="742950" indent="-742950">
              <a:buClr>
                <a:schemeClr val="tx2">
                  <a:lumMod val="50000"/>
                  <a:lumOff val="50000"/>
                </a:schemeClr>
              </a:buClr>
              <a:buFont typeface="+mj-lt"/>
              <a:buAutoNum type="arabicPeriod"/>
            </a:pPr>
            <a:r>
              <a:rPr lang="en-US" sz="2400" dirty="0">
                <a:solidFill>
                  <a:schemeClr val="tx2">
                    <a:lumMod val="50000"/>
                    <a:lumOff val="50000"/>
                  </a:schemeClr>
                </a:solidFill>
                <a:latin typeface="Times New Roman" charset="0"/>
                <a:ea typeface="Times New Roman" charset="0"/>
                <a:cs typeface="Times New Roman" charset="0"/>
              </a:rPr>
              <a:t>Do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no harm</a:t>
            </a:r>
            <a:r>
              <a:rPr lang="en-US" sz="2400" dirty="0">
                <a:solidFill>
                  <a:schemeClr val="tx2">
                    <a:lumMod val="50000"/>
                    <a:lumOff val="50000"/>
                  </a:schemeClr>
                </a:solidFill>
                <a:latin typeface="Times New Roman" charset="0"/>
                <a:ea typeface="Times New Roman" charset="0"/>
                <a:cs typeface="Times New Roman" charset="0"/>
              </a:rPr>
              <a:t> </a:t>
            </a:r>
          </a:p>
          <a:p>
            <a:pPr marL="742950" indent="-742950">
              <a:buClr>
                <a:schemeClr val="tx2">
                  <a:lumMod val="50000"/>
                  <a:lumOff val="50000"/>
                </a:schemeClr>
              </a:buClr>
              <a:buFont typeface="+mj-lt"/>
              <a:buAutoNum type="arabicPeriod"/>
            </a:pPr>
            <a:r>
              <a:rPr lang="en-US" sz="2400" dirty="0">
                <a:solidFill>
                  <a:schemeClr val="tx2">
                    <a:lumMod val="50000"/>
                    <a:lumOff val="50000"/>
                  </a:schemeClr>
                </a:solidFill>
                <a:latin typeface="Times New Roman" charset="0"/>
                <a:ea typeface="Times New Roman" charset="0"/>
                <a:cs typeface="Times New Roman" charset="0"/>
              </a:rPr>
              <a:t>Avoid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dual relationships</a:t>
            </a:r>
            <a:r>
              <a:rPr lang="en-US" sz="2400" dirty="0">
                <a:solidFill>
                  <a:schemeClr val="tx2">
                    <a:lumMod val="50000"/>
                    <a:lumOff val="50000"/>
                  </a:schemeClr>
                </a:solidFill>
                <a:latin typeface="Times New Roman" charset="0"/>
                <a:ea typeface="Times New Roman" charset="0"/>
                <a:cs typeface="Times New Roman" charset="0"/>
              </a:rPr>
              <a:t> in all counselling activities </a:t>
            </a:r>
          </a:p>
          <a:p>
            <a:pPr marL="742950" indent="-742950">
              <a:buClr>
                <a:schemeClr val="tx2">
                  <a:lumMod val="50000"/>
                  <a:lumOff val="50000"/>
                </a:schemeClr>
              </a:buClr>
              <a:buFont typeface="+mj-lt"/>
              <a:buAutoNum type="arabicPeriod"/>
            </a:pPr>
            <a:r>
              <a:rPr lang="en-US" sz="2400" dirty="0">
                <a:solidFill>
                  <a:schemeClr val="tx2">
                    <a:lumMod val="50000"/>
                    <a:lumOff val="50000"/>
                  </a:schemeClr>
                </a:solidFill>
                <a:latin typeface="Times New Roman" charset="0"/>
                <a:ea typeface="Times New Roman" charset="0"/>
                <a:cs typeface="Times New Roman" charset="0"/>
              </a:rPr>
              <a:t>Full and complete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disclosure</a:t>
            </a:r>
            <a:r>
              <a:rPr lang="en-US" sz="2400" dirty="0">
                <a:solidFill>
                  <a:schemeClr val="tx2">
                    <a:lumMod val="50000"/>
                    <a:lumOff val="50000"/>
                  </a:schemeClr>
                </a:solidFill>
                <a:latin typeface="Times New Roman" charset="0"/>
                <a:ea typeface="Times New Roman" charset="0"/>
                <a:cs typeface="Times New Roman" charset="0"/>
              </a:rPr>
              <a:t> about the counselling process for the course </a:t>
            </a:r>
          </a:p>
          <a:p>
            <a:pPr marL="742950" indent="-742950">
              <a:buClr>
                <a:schemeClr val="tx2">
                  <a:lumMod val="50000"/>
                  <a:lumOff val="50000"/>
                </a:schemeClr>
              </a:buClr>
              <a:buFont typeface="+mj-lt"/>
              <a:buAutoNum type="arabicPeriod"/>
            </a:pP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Confidentiality</a:t>
            </a:r>
            <a:r>
              <a:rPr lang="en-US" sz="2400" dirty="0">
                <a:solidFill>
                  <a:schemeClr val="tx2">
                    <a:lumMod val="50000"/>
                    <a:lumOff val="50000"/>
                  </a:schemeClr>
                </a:solidFill>
                <a:latin typeface="Times New Roman" charset="0"/>
                <a:ea typeface="Times New Roman" charset="0"/>
                <a:cs typeface="Times New Roman" charset="0"/>
              </a:rPr>
              <a:t> must be appropriately maintained at all times. This includes the professional care of records, whether written or electronic</a:t>
            </a:r>
            <a:r>
              <a:rPr lang="en-US" sz="2400" dirty="0">
                <a:solidFill>
                  <a:schemeClr val="tx2">
                    <a:lumMod val="50000"/>
                    <a:lumOff val="50000"/>
                  </a:schemeClr>
                </a:solidFill>
              </a:rPr>
              <a:t> </a:t>
            </a: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21</a:t>
            </a:fld>
            <a:endParaRPr lang="en-US"/>
          </a:p>
        </p:txBody>
      </p:sp>
    </p:spTree>
    <p:extLst>
      <p:ext uri="{BB962C8B-B14F-4D97-AF65-F5344CB8AC3E}">
        <p14:creationId xmlns:p14="http://schemas.microsoft.com/office/powerpoint/2010/main" val="3812174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766762" y="1064419"/>
            <a:ext cx="10658475" cy="4729162"/>
          </a:xfrm>
        </p:spPr>
        <p:txBody>
          <a:bodyPr>
            <a:normAutofit lnSpcReduction="10000"/>
          </a:bodyPr>
          <a:lstStyle/>
          <a:p>
            <a:pPr marL="514350" indent="-514350">
              <a:buClr>
                <a:schemeClr val="tx2">
                  <a:lumMod val="50000"/>
                  <a:lumOff val="50000"/>
                </a:schemeClr>
              </a:buClr>
              <a:buFont typeface="+mj-lt"/>
              <a:buAutoNum type="arabicPeriod" startAt="5"/>
            </a:pPr>
            <a:r>
              <a:rPr lang="en-US" sz="2400" dirty="0">
                <a:solidFill>
                  <a:schemeClr val="tx2">
                    <a:lumMod val="50000"/>
                    <a:lumOff val="50000"/>
                  </a:schemeClr>
                </a:solidFill>
                <a:latin typeface="Times New Roman" charset="0"/>
                <a:ea typeface="Times New Roman" charset="0"/>
                <a:cs typeface="Times New Roman" charset="0"/>
              </a:rPr>
              <a:t>Clients must be made aware of the circumstances under which confidentiality may be breached prior to the beginning of the counseling session. Please also be sure to let the client know that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confidentiality is </a:t>
            </a:r>
            <a:r>
              <a:rPr lang="en-US" sz="2400" i="1" dirty="0">
                <a:solidFill>
                  <a:schemeClr val="tx2">
                    <a:lumMod val="50000"/>
                    <a:lumOff val="50000"/>
                  </a:schemeClr>
                </a:solidFill>
                <a:highlight>
                  <a:srgbClr val="FFFF00"/>
                </a:highlight>
                <a:latin typeface="Times New Roman" charset="0"/>
                <a:ea typeface="Times New Roman" charset="0"/>
                <a:cs typeface="Times New Roman" charset="0"/>
              </a:rPr>
              <a:t>limited</a:t>
            </a:r>
            <a:r>
              <a:rPr lang="en-US" sz="2400" dirty="0">
                <a:solidFill>
                  <a:schemeClr val="tx2">
                    <a:lumMod val="50000"/>
                    <a:lumOff val="50000"/>
                  </a:schemeClr>
                </a:solidFill>
                <a:latin typeface="Times New Roman" charset="0"/>
                <a:ea typeface="Times New Roman" charset="0"/>
                <a:cs typeface="Times New Roman" charset="0"/>
              </a:rPr>
              <a:t> in this circumstance </a:t>
            </a:r>
          </a:p>
          <a:p>
            <a:pPr marL="514350" indent="-514350">
              <a:buClr>
                <a:schemeClr val="tx2">
                  <a:lumMod val="50000"/>
                  <a:lumOff val="50000"/>
                </a:schemeClr>
              </a:buClr>
              <a:buFont typeface="+mj-lt"/>
              <a:buAutoNum type="arabicPeriod" startAt="5"/>
            </a:pPr>
            <a:r>
              <a:rPr lang="en-US" sz="2400" dirty="0">
                <a:solidFill>
                  <a:schemeClr val="tx2">
                    <a:lumMod val="50000"/>
                    <a:lumOff val="50000"/>
                  </a:schemeClr>
                </a:solidFill>
                <a:latin typeface="Times New Roman" charset="0"/>
                <a:ea typeface="Times New Roman" charset="0"/>
                <a:cs typeface="Times New Roman" charset="0"/>
              </a:rPr>
              <a:t>Signed parent/guardian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consent</a:t>
            </a:r>
            <a:r>
              <a:rPr lang="en-US" sz="2400" dirty="0">
                <a:solidFill>
                  <a:schemeClr val="tx2">
                    <a:lumMod val="50000"/>
                    <a:lumOff val="50000"/>
                  </a:schemeClr>
                </a:solidFill>
                <a:latin typeface="Times New Roman" charset="0"/>
                <a:ea typeface="Times New Roman" charset="0"/>
                <a:cs typeface="Times New Roman" charset="0"/>
              </a:rPr>
              <a:t> must also</a:t>
            </a:r>
            <a:r>
              <a:rPr lang="en-US" sz="2400" i="1" dirty="0">
                <a:solidFill>
                  <a:schemeClr val="tx2">
                    <a:lumMod val="50000"/>
                    <a:lumOff val="50000"/>
                  </a:schemeClr>
                </a:solidFill>
                <a:latin typeface="Times New Roman" charset="0"/>
                <a:ea typeface="Times New Roman" charset="0"/>
                <a:cs typeface="Times New Roman" charset="0"/>
              </a:rPr>
              <a:t> </a:t>
            </a:r>
            <a:r>
              <a:rPr lang="en-US" sz="2400" dirty="0">
                <a:solidFill>
                  <a:schemeClr val="tx2">
                    <a:lumMod val="50000"/>
                    <a:lumOff val="50000"/>
                  </a:schemeClr>
                </a:solidFill>
                <a:latin typeface="Times New Roman" charset="0"/>
                <a:ea typeface="Times New Roman" charset="0"/>
                <a:cs typeface="Times New Roman" charset="0"/>
              </a:rPr>
              <a:t>be obtained whenever the client is under the age of 18</a:t>
            </a:r>
          </a:p>
          <a:p>
            <a:pPr marL="514350" indent="-514350">
              <a:buClr>
                <a:schemeClr val="tx2">
                  <a:lumMod val="50000"/>
                  <a:lumOff val="50000"/>
                </a:schemeClr>
              </a:buClr>
              <a:buFont typeface="+mj-lt"/>
              <a:buAutoNum type="arabicPeriod" startAt="5"/>
            </a:pPr>
            <a:r>
              <a:rPr lang="en-US" sz="2400" dirty="0">
                <a:solidFill>
                  <a:schemeClr val="tx2">
                    <a:lumMod val="50000"/>
                    <a:lumOff val="50000"/>
                  </a:schemeClr>
                </a:solidFill>
                <a:latin typeface="Times New Roman" charset="0"/>
                <a:ea typeface="Times New Roman" charset="0"/>
                <a:cs typeface="Times New Roman" charset="0"/>
              </a:rPr>
              <a:t>In </a:t>
            </a:r>
            <a:r>
              <a:rPr lang="en-US" sz="2400" i="1" dirty="0">
                <a:solidFill>
                  <a:schemeClr val="tx2">
                    <a:lumMod val="50000"/>
                    <a:lumOff val="50000"/>
                  </a:schemeClr>
                </a:solidFill>
                <a:latin typeface="Times New Roman" charset="0"/>
                <a:ea typeface="Times New Roman" charset="0"/>
                <a:cs typeface="Times New Roman" charset="0"/>
              </a:rPr>
              <a:t>any </a:t>
            </a:r>
            <a:r>
              <a:rPr lang="en-US" sz="2400" dirty="0">
                <a:solidFill>
                  <a:schemeClr val="tx2">
                    <a:lumMod val="50000"/>
                    <a:lumOff val="50000"/>
                  </a:schemeClr>
                </a:solidFill>
                <a:latin typeface="Times New Roman" charset="0"/>
                <a:ea typeface="Times New Roman" charset="0"/>
                <a:cs typeface="Times New Roman" charset="0"/>
              </a:rPr>
              <a:t>instance where a student-counsellor is concerned about the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welfare</a:t>
            </a:r>
            <a:r>
              <a:rPr lang="en-US" sz="2400" dirty="0">
                <a:solidFill>
                  <a:schemeClr val="tx2">
                    <a:lumMod val="50000"/>
                    <a:lumOff val="50000"/>
                  </a:schemeClr>
                </a:solidFill>
                <a:latin typeface="Times New Roman" charset="0"/>
                <a:ea typeface="Times New Roman" charset="0"/>
                <a:cs typeface="Times New Roman" charset="0"/>
              </a:rPr>
              <a:t> of a client or feels an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ethical/legal issue</a:t>
            </a:r>
            <a:r>
              <a:rPr lang="en-US" sz="2400" dirty="0">
                <a:solidFill>
                  <a:schemeClr val="tx2">
                    <a:lumMod val="50000"/>
                    <a:lumOff val="50000"/>
                  </a:schemeClr>
                </a:solidFill>
                <a:latin typeface="Times New Roman" charset="0"/>
                <a:ea typeface="Times New Roman" charset="0"/>
                <a:cs typeface="Times New Roman" charset="0"/>
              </a:rPr>
              <a:t> is in question, the student is to </a:t>
            </a:r>
            <a:r>
              <a:rPr lang="en-US" sz="2400" i="1" dirty="0">
                <a:solidFill>
                  <a:schemeClr val="tx2">
                    <a:lumMod val="50000"/>
                    <a:lumOff val="50000"/>
                  </a:schemeClr>
                </a:solidFill>
                <a:latin typeface="Times New Roman" charset="0"/>
                <a:ea typeface="Times New Roman" charset="0"/>
                <a:cs typeface="Times New Roman" charset="0"/>
              </a:rPr>
              <a:t>immediately</a:t>
            </a:r>
            <a:r>
              <a:rPr lang="en-US" sz="2400" dirty="0">
                <a:solidFill>
                  <a:schemeClr val="tx2">
                    <a:lumMod val="50000"/>
                    <a:lumOff val="50000"/>
                  </a:schemeClr>
                </a:solidFill>
                <a:latin typeface="Times New Roman" charset="0"/>
                <a:ea typeface="Times New Roman" charset="0"/>
                <a:cs typeface="Times New Roman" charset="0"/>
              </a:rPr>
              <a:t> contact the practicum supervisor for consultation</a:t>
            </a:r>
          </a:p>
          <a:p>
            <a:pPr marL="514350" indent="-514350">
              <a:buClr>
                <a:schemeClr val="tx2">
                  <a:lumMod val="50000"/>
                  <a:lumOff val="50000"/>
                </a:schemeClr>
              </a:buClr>
              <a:buFont typeface="+mj-lt"/>
              <a:buAutoNum type="arabicPeriod" startAt="5"/>
            </a:pPr>
            <a:r>
              <a:rPr lang="en-US" sz="2400" dirty="0">
                <a:solidFill>
                  <a:schemeClr val="tx2">
                    <a:lumMod val="50000"/>
                    <a:lumOff val="50000"/>
                  </a:schemeClr>
                </a:solidFill>
                <a:latin typeface="Times New Roman" charset="0"/>
                <a:ea typeface="Times New Roman" charset="0"/>
                <a:cs typeface="Times New Roman" charset="0"/>
              </a:rPr>
              <a:t>You may consider </a:t>
            </a:r>
            <a:r>
              <a:rPr lang="en-US" sz="2400" dirty="0">
                <a:solidFill>
                  <a:schemeClr val="tx2">
                    <a:lumMod val="50000"/>
                    <a:lumOff val="50000"/>
                  </a:schemeClr>
                </a:solidFill>
                <a:highlight>
                  <a:srgbClr val="FFFF00"/>
                </a:highlight>
                <a:latin typeface="Times New Roman" charset="0"/>
                <a:ea typeface="Times New Roman" charset="0"/>
                <a:cs typeface="Times New Roman" charset="0"/>
              </a:rPr>
              <a:t>filming</a:t>
            </a:r>
            <a:r>
              <a:rPr lang="en-US" sz="2400" dirty="0">
                <a:solidFill>
                  <a:schemeClr val="tx2">
                    <a:lumMod val="50000"/>
                    <a:lumOff val="50000"/>
                  </a:schemeClr>
                </a:solidFill>
                <a:latin typeface="Times New Roman" charset="0"/>
                <a:ea typeface="Times New Roman" charset="0"/>
                <a:cs typeface="Times New Roman" charset="0"/>
              </a:rPr>
              <a:t> segments of your guidance </a:t>
            </a:r>
            <a:r>
              <a:rPr lang="en-US" sz="2400" dirty="0" err="1">
                <a:solidFill>
                  <a:schemeClr val="tx2">
                    <a:lumMod val="50000"/>
                    <a:lumOff val="50000"/>
                  </a:schemeClr>
                </a:solidFill>
                <a:latin typeface="Times New Roman" charset="0"/>
                <a:ea typeface="Times New Roman" charset="0"/>
                <a:cs typeface="Times New Roman" charset="0"/>
              </a:rPr>
              <a:t>programme</a:t>
            </a:r>
            <a:r>
              <a:rPr lang="en-US" sz="2400" dirty="0">
                <a:solidFill>
                  <a:schemeClr val="tx2">
                    <a:lumMod val="50000"/>
                    <a:lumOff val="50000"/>
                  </a:schemeClr>
                </a:solidFill>
                <a:latin typeface="Times New Roman" charset="0"/>
                <a:ea typeface="Times New Roman" charset="0"/>
                <a:cs typeface="Times New Roman" charset="0"/>
              </a:rPr>
              <a:t> to be shown in group supervision (please seek the clients’ consent first)</a:t>
            </a:r>
            <a:br>
              <a:rPr lang="en-US" sz="2400" dirty="0">
                <a:solidFill>
                  <a:schemeClr val="tx2">
                    <a:lumMod val="50000"/>
                    <a:lumOff val="50000"/>
                  </a:schemeClr>
                </a:solidFill>
                <a:latin typeface="Times New Roman" charset="0"/>
                <a:ea typeface="Times New Roman" charset="0"/>
                <a:cs typeface="Times New Roman" charset="0"/>
              </a:rPr>
            </a:br>
            <a:endParaRPr lang="en-US" sz="2400" dirty="0">
              <a:solidFill>
                <a:schemeClr val="tx2">
                  <a:lumMod val="50000"/>
                  <a:lumOff val="50000"/>
                </a:schemeClr>
              </a:solidFill>
              <a:latin typeface="Times New Roman" charset="0"/>
              <a:ea typeface="Times New Roman" charset="0"/>
              <a:cs typeface="Times New Roman"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22</a:t>
            </a:fld>
            <a:endParaRPr lang="en-US"/>
          </a:p>
        </p:txBody>
      </p:sp>
    </p:spTree>
    <p:extLst>
      <p:ext uri="{BB962C8B-B14F-4D97-AF65-F5344CB8AC3E}">
        <p14:creationId xmlns:p14="http://schemas.microsoft.com/office/powerpoint/2010/main" val="519563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sz="4400" dirty="0">
                <a:solidFill>
                  <a:schemeClr val="tx2">
                    <a:lumMod val="50000"/>
                    <a:lumOff val="50000"/>
                  </a:schemeClr>
                </a:solidFill>
                <a:latin typeface="Times New Roman" charset="0"/>
                <a:ea typeface="Times New Roman" charset="0"/>
                <a:cs typeface="Times New Roman" charset="0"/>
              </a:rPr>
              <a:t>Professional Consultation</a:t>
            </a:r>
          </a:p>
        </p:txBody>
      </p:sp>
      <p:sp>
        <p:nvSpPr>
          <p:cNvPr id="3" name="內容版面配置區 2"/>
          <p:cNvSpPr>
            <a:spLocks noGrp="1"/>
          </p:cNvSpPr>
          <p:nvPr>
            <p:ph idx="1"/>
          </p:nvPr>
        </p:nvSpPr>
        <p:spPr>
          <a:xfrm>
            <a:off x="838200" y="2006600"/>
            <a:ext cx="10515600" cy="3998306"/>
          </a:xfrm>
        </p:spPr>
        <p:txBody>
          <a:bodyPr/>
          <a:lstStyle/>
          <a:p>
            <a:pPr marL="0" indent="0">
              <a:buClr>
                <a:schemeClr val="tx2">
                  <a:lumMod val="50000"/>
                  <a:lumOff val="50000"/>
                </a:schemeClr>
              </a:buClr>
              <a:buNone/>
            </a:pPr>
            <a:r>
              <a:rPr lang="en-US" dirty="0">
                <a:solidFill>
                  <a:schemeClr val="tx2">
                    <a:lumMod val="50000"/>
                    <a:lumOff val="50000"/>
                  </a:schemeClr>
                </a:solidFill>
                <a:latin typeface="Times New Roman" charset="0"/>
                <a:ea typeface="Times New Roman" charset="0"/>
                <a:cs typeface="Times New Roman" charset="0"/>
              </a:rPr>
              <a:t>You should</a:t>
            </a:r>
          </a:p>
          <a:p>
            <a:pPr>
              <a:buClr>
                <a:schemeClr val="tx2">
                  <a:lumMod val="50000"/>
                  <a:lumOff val="50000"/>
                </a:schemeClr>
              </a:buClr>
            </a:pPr>
            <a:r>
              <a:rPr lang="en-US" dirty="0">
                <a:solidFill>
                  <a:schemeClr val="tx2">
                    <a:lumMod val="50000"/>
                    <a:lumOff val="50000"/>
                  </a:schemeClr>
                </a:solidFill>
                <a:latin typeface="Times New Roman" charset="0"/>
                <a:ea typeface="Times New Roman" charset="0"/>
                <a:cs typeface="Times New Roman" charset="0"/>
              </a:rPr>
              <a:t>further consult </a:t>
            </a:r>
            <a:r>
              <a:rPr lang="en-US" b="1" dirty="0">
                <a:solidFill>
                  <a:srgbClr val="7030A0"/>
                </a:solidFill>
                <a:latin typeface="Times New Roman" charset="0"/>
                <a:ea typeface="Times New Roman" charset="0"/>
                <a:cs typeface="Times New Roman" charset="0"/>
              </a:rPr>
              <a:t>experienced colleagues</a:t>
            </a:r>
            <a:r>
              <a:rPr lang="en-US" dirty="0">
                <a:solidFill>
                  <a:schemeClr val="tx2">
                    <a:lumMod val="50000"/>
                    <a:lumOff val="50000"/>
                  </a:schemeClr>
                </a:solidFill>
                <a:latin typeface="Times New Roman" charset="0"/>
                <a:ea typeface="Times New Roman" charset="0"/>
                <a:cs typeface="Times New Roman" charset="0"/>
              </a:rPr>
              <a:t> at your school</a:t>
            </a:r>
          </a:p>
          <a:p>
            <a:pPr>
              <a:buClr>
                <a:schemeClr val="tx2">
                  <a:lumMod val="50000"/>
                  <a:lumOff val="50000"/>
                </a:schemeClr>
              </a:buClr>
            </a:pPr>
            <a:r>
              <a:rPr lang="en-US" dirty="0">
                <a:solidFill>
                  <a:schemeClr val="tx2">
                    <a:lumMod val="50000"/>
                    <a:lumOff val="50000"/>
                  </a:schemeClr>
                </a:solidFill>
                <a:latin typeface="Times New Roman" charset="0"/>
                <a:ea typeface="Times New Roman" charset="0"/>
                <a:cs typeface="Times New Roman" charset="0"/>
              </a:rPr>
              <a:t>share relevant individual student cases in the </a:t>
            </a:r>
            <a:r>
              <a:rPr lang="en-US" b="1" dirty="0">
                <a:solidFill>
                  <a:srgbClr val="7030A0"/>
                </a:solidFill>
                <a:latin typeface="Times New Roman" charset="0"/>
                <a:ea typeface="Times New Roman" charset="0"/>
                <a:cs typeface="Times New Roman" charset="0"/>
              </a:rPr>
              <a:t>group supervision sessions</a:t>
            </a:r>
          </a:p>
          <a:p>
            <a:pPr>
              <a:buClr>
                <a:schemeClr val="tx2">
                  <a:lumMod val="50000"/>
                  <a:lumOff val="50000"/>
                </a:schemeClr>
              </a:buClr>
            </a:pPr>
            <a:r>
              <a:rPr lang="en-US" dirty="0">
                <a:solidFill>
                  <a:schemeClr val="tx2">
                    <a:lumMod val="50000"/>
                    <a:lumOff val="50000"/>
                  </a:schemeClr>
                </a:solidFill>
                <a:latin typeface="Times New Roman" charset="0"/>
                <a:ea typeface="Times New Roman" charset="0"/>
                <a:cs typeface="Times New Roman" charset="0"/>
              </a:rPr>
              <a:t>share your own reflections in </a:t>
            </a:r>
            <a:r>
              <a:rPr lang="en-US" b="1" dirty="0">
                <a:solidFill>
                  <a:srgbClr val="7030A0"/>
                </a:solidFill>
                <a:latin typeface="Times New Roman" charset="0"/>
                <a:ea typeface="Times New Roman" charset="0"/>
                <a:cs typeface="Times New Roman" charset="0"/>
              </a:rPr>
              <a:t>Moodle course room</a:t>
            </a:r>
            <a:r>
              <a:rPr lang="en-US" dirty="0">
                <a:solidFill>
                  <a:schemeClr val="tx2">
                    <a:lumMod val="50000"/>
                    <a:lumOff val="50000"/>
                  </a:schemeClr>
                </a:solidFill>
                <a:latin typeface="Times New Roman" charset="0"/>
                <a:ea typeface="Times New Roman" charset="0"/>
                <a:cs typeface="Times New Roman" charset="0"/>
              </a:rPr>
              <a:t>, as appropriate   </a:t>
            </a:r>
          </a:p>
          <a:p>
            <a:pPr>
              <a:buClr>
                <a:schemeClr val="tx2">
                  <a:lumMod val="50000"/>
                  <a:lumOff val="50000"/>
                </a:schemeClr>
              </a:buClr>
            </a:pPr>
            <a:r>
              <a:rPr lang="en-US" dirty="0">
                <a:solidFill>
                  <a:schemeClr val="tx2">
                    <a:lumMod val="50000"/>
                    <a:lumOff val="50000"/>
                  </a:schemeClr>
                </a:solidFill>
                <a:latin typeface="Times New Roman" charset="0"/>
                <a:ea typeface="Times New Roman" charset="0"/>
                <a:cs typeface="Times New Roman" charset="0"/>
              </a:rPr>
              <a:t>demonstrate </a:t>
            </a:r>
            <a:r>
              <a:rPr lang="en-US" b="1" dirty="0">
                <a:solidFill>
                  <a:srgbClr val="7030A0"/>
                </a:solidFill>
                <a:latin typeface="Times New Roman" charset="0"/>
                <a:ea typeface="Times New Roman" charset="0"/>
                <a:cs typeface="Times New Roman" charset="0"/>
              </a:rPr>
              <a:t>professional conduct</a:t>
            </a:r>
            <a:r>
              <a:rPr lang="en-US" dirty="0">
                <a:solidFill>
                  <a:schemeClr val="tx2">
                    <a:lumMod val="50000"/>
                    <a:lumOff val="50000"/>
                  </a:schemeClr>
                </a:solidFill>
                <a:latin typeface="Times New Roman" charset="0"/>
                <a:ea typeface="Times New Roman" charset="0"/>
                <a:cs typeface="Times New Roman" charset="0"/>
              </a:rPr>
              <a:t> and </a:t>
            </a:r>
            <a:r>
              <a:rPr lang="en-US" dirty="0" err="1">
                <a:solidFill>
                  <a:schemeClr val="tx2">
                    <a:lumMod val="50000"/>
                    <a:lumOff val="50000"/>
                  </a:schemeClr>
                </a:solidFill>
                <a:latin typeface="Times New Roman" charset="0"/>
                <a:ea typeface="Times New Roman" charset="0"/>
                <a:cs typeface="Times New Roman" charset="0"/>
              </a:rPr>
              <a:t>behaviour</a:t>
            </a:r>
            <a:endParaRPr lang="en-US" dirty="0">
              <a:solidFill>
                <a:schemeClr val="tx2">
                  <a:lumMod val="50000"/>
                  <a:lumOff val="50000"/>
                </a:schemeClr>
              </a:solidFill>
              <a:latin typeface="Times New Roman" charset="0"/>
              <a:ea typeface="Times New Roman" charset="0"/>
              <a:cs typeface="Times New Roman"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23</a:t>
            </a:fld>
            <a:endParaRPr lang="en-US"/>
          </a:p>
        </p:txBody>
      </p:sp>
    </p:spTree>
    <p:extLst>
      <p:ext uri="{BB962C8B-B14F-4D97-AF65-F5344CB8AC3E}">
        <p14:creationId xmlns:p14="http://schemas.microsoft.com/office/powerpoint/2010/main" val="396697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ctr"/>
            <a:br>
              <a:rPr lang="en-US" sz="3200" b="1" dirty="0">
                <a:solidFill>
                  <a:schemeClr val="tx2">
                    <a:lumMod val="50000"/>
                    <a:lumOff val="50000"/>
                  </a:schemeClr>
                </a:solidFill>
                <a:latin typeface="Times New Roman" charset="0"/>
                <a:ea typeface="Times New Roman" charset="0"/>
                <a:cs typeface="Times New Roman" charset="0"/>
              </a:rPr>
            </a:br>
            <a:r>
              <a:rPr lang="en-US" sz="3200" b="1" dirty="0">
                <a:solidFill>
                  <a:schemeClr val="tx2">
                    <a:lumMod val="50000"/>
                    <a:lumOff val="50000"/>
                  </a:schemeClr>
                </a:solidFill>
                <a:latin typeface="Times New Roman" charset="0"/>
                <a:ea typeface="Times New Roman" charset="0"/>
                <a:cs typeface="Times New Roman" charset="0"/>
              </a:rPr>
              <a:t>Affiliations for Continuous Professional Development </a:t>
            </a:r>
            <a:br>
              <a:rPr lang="en-US" sz="3200" dirty="0">
                <a:solidFill>
                  <a:schemeClr val="tx2">
                    <a:lumMod val="50000"/>
                    <a:lumOff val="50000"/>
                  </a:schemeClr>
                </a:solidFill>
                <a:latin typeface="Times New Roman" charset="0"/>
                <a:ea typeface="Times New Roman" charset="0"/>
                <a:cs typeface="Times New Roman" charset="0"/>
              </a:rPr>
            </a:br>
            <a:endParaRPr lang="en-US" sz="3200" dirty="0">
              <a:solidFill>
                <a:schemeClr val="tx2">
                  <a:lumMod val="50000"/>
                  <a:lumOff val="50000"/>
                </a:schemeClr>
              </a:solidFill>
              <a:latin typeface="Times New Roman" charset="0"/>
              <a:ea typeface="Times New Roman" charset="0"/>
              <a:cs typeface="Times New Roman" charset="0"/>
            </a:endParaRPr>
          </a:p>
        </p:txBody>
      </p:sp>
      <p:sp>
        <p:nvSpPr>
          <p:cNvPr id="3" name="內容版面配置區 2"/>
          <p:cNvSpPr>
            <a:spLocks noGrp="1"/>
          </p:cNvSpPr>
          <p:nvPr>
            <p:ph idx="1"/>
          </p:nvPr>
        </p:nvSpPr>
        <p:spPr>
          <a:xfrm>
            <a:off x="838200" y="2006600"/>
            <a:ext cx="10515600" cy="3998306"/>
          </a:xfrm>
        </p:spPr>
        <p:txBody>
          <a:bodyPr>
            <a:normAutofit lnSpcReduction="10000"/>
          </a:bodyPr>
          <a:lstStyle/>
          <a:p>
            <a:pPr marL="0" indent="0">
              <a:buNone/>
            </a:pPr>
            <a:r>
              <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rPr>
              <a:t>1. The Hong Kong Professional Counselling Association </a:t>
            </a:r>
            <a:r>
              <a:rPr lang="en-US" sz="1800" dirty="0" err="1">
                <a:solidFill>
                  <a:schemeClr val="tx1">
                    <a:lumMod val="65000"/>
                    <a:lumOff val="35000"/>
                  </a:schemeClr>
                </a:solidFill>
                <a:latin typeface="Times New Roman" panose="02020603050405020304" pitchFamily="18" charset="0"/>
                <a:ea typeface="Times New Roman" charset="0"/>
                <a:cs typeface="Times New Roman" panose="02020603050405020304" pitchFamily="18" charset="0"/>
              </a:rPr>
              <a:t>香港</a:t>
            </a:r>
            <a:r>
              <a:rPr lang="zh-TW" altLang="en-US" sz="1800" dirty="0">
                <a:solidFill>
                  <a:schemeClr val="tx1">
                    <a:lumMod val="65000"/>
                    <a:lumOff val="35000"/>
                  </a:schemeClr>
                </a:solidFill>
              </a:rPr>
              <a:t>專業輔導協會</a:t>
            </a:r>
            <a:endParaRPr lang="en-US" sz="2400" dirty="0">
              <a:solidFill>
                <a:schemeClr val="tx1">
                  <a:lumMod val="65000"/>
                  <a:lumOff val="35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r>
              <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hlinkClick r:id="rId2"/>
              </a:rPr>
              <a:t>https://www.hkpca.org.hk</a:t>
            </a: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0" indent="0">
              <a:buNone/>
            </a:pPr>
            <a:r>
              <a:rPr lang="en-HK" sz="2400" dirty="0">
                <a:solidFill>
                  <a:schemeClr val="tx2">
                    <a:lumMod val="50000"/>
                    <a:lumOff val="50000"/>
                  </a:schemeClr>
                </a:solidFill>
                <a:latin typeface="Times New Roman" panose="02020603050405020304" pitchFamily="18" charset="0"/>
                <a:cs typeface="Times New Roman" panose="02020603050405020304" pitchFamily="18" charset="0"/>
              </a:rPr>
              <a:t>2. Asia-Pacific Counselling and Psychotherapy Association </a:t>
            </a:r>
            <a:r>
              <a:rPr lang="zh-TW" altLang="en-US" sz="1800" dirty="0">
                <a:solidFill>
                  <a:schemeClr val="tx1">
                    <a:lumMod val="75000"/>
                    <a:lumOff val="25000"/>
                    <a:alpha val="70000"/>
                  </a:schemeClr>
                </a:solidFill>
              </a:rPr>
              <a:t>亞洲專業輔導及心理協會</a:t>
            </a:r>
            <a:endParaRPr lang="en-US" sz="2400" dirty="0">
              <a:solidFill>
                <a:schemeClr val="tx1">
                  <a:lumMod val="75000"/>
                  <a:lumOff val="25000"/>
                  <a:alpha val="70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r>
              <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hlinkClick r:id="rId3"/>
              </a:rPr>
              <a:t>http://www.apcpa.com.hk</a:t>
            </a: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0" indent="0">
              <a:buNone/>
            </a:pPr>
            <a:r>
              <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rPr>
              <a:t>3. The American Counseling Association </a:t>
            </a:r>
          </a:p>
          <a:p>
            <a:pPr marL="342900" indent="-342900">
              <a:buFont typeface="Wingdings" pitchFamily="2" charset="2"/>
              <a:buChar char="Ø"/>
            </a:pPr>
            <a:r>
              <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hlinkClick r:id="rId4"/>
              </a:rPr>
              <a:t>https://www.counseling.org</a:t>
            </a: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marL="342900" indent="-342900">
              <a:buFont typeface="Wingdings" pitchFamily="2" charset="2"/>
              <a:buChar char="Ø"/>
            </a:pPr>
            <a:endParaRPr lang="en-US" sz="2400" u="sng"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a:buFont typeface="Wingdings" pitchFamily="2" charset="2"/>
              <a:buChar char="Ø"/>
            </a:pPr>
            <a:endParaRPr lang="en-US" sz="2400" u="sng"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a:buFont typeface="Wingdings" pitchFamily="2" charset="2"/>
              <a:buChar char="Ø"/>
            </a:pPr>
            <a:endParaRPr lang="en-US" sz="2400" u="sng"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a:buFont typeface="Wingdings" pitchFamily="2" charset="2"/>
              <a:buChar char="Ø"/>
            </a:pPr>
            <a:endParaRPr lang="en-US" sz="2400" u="sng"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a:p>
            <a:pPr>
              <a:buFont typeface="Wingdings" pitchFamily="2" charset="2"/>
              <a:buChar char="Ø"/>
            </a:pPr>
            <a:endParaRPr lang="en-US" sz="2400" dirty="0">
              <a:solidFill>
                <a:schemeClr val="tx2">
                  <a:lumMod val="50000"/>
                  <a:lumOff val="50000"/>
                </a:schemeClr>
              </a:solidFill>
              <a:latin typeface="Times New Roman" panose="02020603050405020304" pitchFamily="18" charset="0"/>
              <a:ea typeface="Times New Roman"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normAutofit/>
          </a:bodyPr>
          <a:lstStyle/>
          <a:p>
            <a:fld id="{B5CD104B-643B-43E1-AE31-F18767EB890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Frame 26">
            <a:extLst>
              <a:ext uri="{FF2B5EF4-FFF2-40B4-BE49-F238E27FC236}">
                <a16:creationId xmlns:a16="http://schemas.microsoft.com/office/drawing/2014/main" id="{DD7EAFE6-2BB9-41FB-9CF4-588CFC70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32768DCD-B824-413A-B330-8D57ADB37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yellow flower with white text&#10;&#10;Description automatically generated">
            <a:extLst>
              <a:ext uri="{FF2B5EF4-FFF2-40B4-BE49-F238E27FC236}">
                <a16:creationId xmlns:a16="http://schemas.microsoft.com/office/drawing/2014/main" id="{08330E95-0650-D3AC-5C74-1FCD746E7AE3}"/>
              </a:ext>
            </a:extLst>
          </p:cNvPr>
          <p:cNvPicPr>
            <a:picLocks noGrp="1" noChangeAspect="1"/>
          </p:cNvPicPr>
          <p:nvPr>
            <p:ph idx="4294967295"/>
          </p:nvPr>
        </p:nvPicPr>
        <p:blipFill>
          <a:blip r:embed="rId2">
            <a:alphaModFix amt="90000"/>
          </a:blip>
          <a:stretch>
            <a:fillRect/>
          </a:stretch>
        </p:blipFill>
        <p:spPr>
          <a:xfrm>
            <a:off x="3617625" y="332936"/>
            <a:ext cx="4953702" cy="6192128"/>
          </a:xfrm>
          <a:prstGeom prst="rect">
            <a:avLst/>
          </a:prstGeom>
        </p:spPr>
      </p:pic>
    </p:spTree>
    <p:extLst>
      <p:ext uri="{BB962C8B-B14F-4D97-AF65-F5344CB8AC3E}">
        <p14:creationId xmlns:p14="http://schemas.microsoft.com/office/powerpoint/2010/main" val="809168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610334BF-0422-4A9A-BE46-AEB8C348B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98F2823-0279-49D8-928D-754B22253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4"/>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2E45E95-311C-41C7-A882-6E43F08068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B7299D5D-ECC5-41EB-B830-C3A35FB355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537516" y="0"/>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8C91735-5EFE-44D1-8CC6-FDF0D11B6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3990" y="1194074"/>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33F926C-2613-475D-AEE4-CD7D87D3BA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39622" y="194269"/>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descr="A person holding a red mug&#10;&#10;Description automatically generated">
            <a:extLst>
              <a:ext uri="{FF2B5EF4-FFF2-40B4-BE49-F238E27FC236}">
                <a16:creationId xmlns:a16="http://schemas.microsoft.com/office/drawing/2014/main" id="{2F55665E-2066-D0D8-30F0-D155439E94EA}"/>
              </a:ext>
            </a:extLst>
          </p:cNvPr>
          <p:cNvPicPr>
            <a:picLocks noChangeAspect="1"/>
          </p:cNvPicPr>
          <p:nvPr/>
        </p:nvPicPr>
        <p:blipFill>
          <a:blip r:embed="rId2">
            <a:alphaModFix amt="80000"/>
          </a:blip>
          <a:stretch>
            <a:fillRect/>
          </a:stretch>
        </p:blipFill>
        <p:spPr>
          <a:xfrm>
            <a:off x="3379690" y="34853"/>
            <a:ext cx="5429572" cy="6786966"/>
          </a:xfrm>
          <a:prstGeom prst="rect">
            <a:avLst/>
          </a:prstGeom>
        </p:spPr>
      </p:pic>
    </p:spTree>
    <p:extLst>
      <p:ext uri="{BB962C8B-B14F-4D97-AF65-F5344CB8AC3E}">
        <p14:creationId xmlns:p14="http://schemas.microsoft.com/office/powerpoint/2010/main" val="3273250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Frame 38">
            <a:extLst>
              <a:ext uri="{FF2B5EF4-FFF2-40B4-BE49-F238E27FC236}">
                <a16:creationId xmlns:a16="http://schemas.microsoft.com/office/drawing/2014/main" id="{DD7EAFE6-2BB9-41FB-9CF4-588CFC70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24" name="Picture 7" descr="Question mark against red wall">
            <a:extLst>
              <a:ext uri="{FF2B5EF4-FFF2-40B4-BE49-F238E27FC236}">
                <a16:creationId xmlns:a16="http://schemas.microsoft.com/office/drawing/2014/main" id="{530CBCC9-5255-FC6D-3E30-851A8EC14DFA}"/>
              </a:ext>
            </a:extLst>
          </p:cNvPr>
          <p:cNvPicPr>
            <a:picLocks noChangeAspect="1"/>
          </p:cNvPicPr>
          <p:nvPr/>
        </p:nvPicPr>
        <p:blipFill rotWithShape="1">
          <a:blip r:embed="rId2"/>
          <a:srcRect b="7025"/>
          <a:stretch>
            <a:fillRect/>
          </a:stretch>
        </p:blipFill>
        <p:spPr>
          <a:xfrm>
            <a:off x="20" y="10"/>
            <a:ext cx="12191980" cy="6857989"/>
          </a:xfrm>
          <a:prstGeom prst="rect">
            <a:avLst/>
          </a:prstGeom>
        </p:spPr>
      </p:pic>
      <p:sp>
        <p:nvSpPr>
          <p:cNvPr id="43" name="Rectangle 42">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000" y="3220947"/>
            <a:ext cx="9144000" cy="2940679"/>
          </a:xfrm>
        </p:spPr>
        <p:txBody>
          <a:bodyPr vert="horz" lIns="91440" tIns="45720" rIns="91440" bIns="45720" rtlCol="0" anchor="t">
            <a:normAutofit/>
          </a:bodyPr>
          <a:lstStyle/>
          <a:p>
            <a:pPr algn="ctr"/>
            <a:r>
              <a:rPr lang="en-US" sz="5400" dirty="0">
                <a:solidFill>
                  <a:srgbClr val="FFFFFF"/>
                </a:solidFill>
              </a:rPr>
              <a:t>Q and A</a:t>
            </a:r>
          </a:p>
        </p:txBody>
      </p:sp>
      <p:sp>
        <p:nvSpPr>
          <p:cNvPr id="4" name="Slide Number Placeholder 3"/>
          <p:cNvSpPr>
            <a:spLocks noGrp="1"/>
          </p:cNvSpPr>
          <p:nvPr>
            <p:ph type="sldNum" sz="quarter" idx="12"/>
          </p:nvPr>
        </p:nvSpPr>
        <p:spPr>
          <a:xfrm>
            <a:off x="8610600" y="6429375"/>
            <a:ext cx="2743200" cy="365125"/>
          </a:xfrm>
        </p:spPr>
        <p:txBody>
          <a:bodyPr vert="horz" lIns="91440" tIns="45720" rIns="91440" bIns="45720" rtlCol="0" anchor="ctr">
            <a:normAutofit/>
          </a:bodyPr>
          <a:lstStyle/>
          <a:p>
            <a:pPr>
              <a:spcAft>
                <a:spcPts val="600"/>
              </a:spcAft>
            </a:pPr>
            <a:fld id="{B5CD104B-643B-43E1-AE31-F18767EB890B}" type="slidenum">
              <a:rPr lang="en-US" smtClean="0"/>
              <a:pPr>
                <a:spcAft>
                  <a:spcPts val="600"/>
                </a:spcAft>
              </a:pPr>
              <a:t>27</a:t>
            </a:fld>
            <a:endParaRPr lang="en-US"/>
          </a:p>
        </p:txBody>
      </p:sp>
    </p:spTree>
    <p:extLst>
      <p:ext uri="{BB962C8B-B14F-4D97-AF65-F5344CB8AC3E}">
        <p14:creationId xmlns:p14="http://schemas.microsoft.com/office/powerpoint/2010/main" val="1559987184"/>
      </p:ext>
    </p:extLst>
  </p:cSld>
  <p:clrMapOvr>
    <a:masterClrMapping/>
  </p:clrMapOvr>
</p:sld>
</file>

<file path=ppt/theme/theme1.xml><?xml version="1.0" encoding="utf-8"?>
<a:theme xmlns:a="http://schemas.openxmlformats.org/drawingml/2006/main" name="LuminousVTI">
  <a:themeElements>
    <a:clrScheme name="AnalogousFromLightSeedLeftStep">
      <a:dk1>
        <a:srgbClr val="000000"/>
      </a:dk1>
      <a:lt1>
        <a:srgbClr val="FFFFFF"/>
      </a:lt1>
      <a:dk2>
        <a:srgbClr val="202939"/>
      </a:dk2>
      <a:lt2>
        <a:srgbClr val="E3E2E8"/>
      </a:lt2>
      <a:accent1>
        <a:srgbClr val="94A84E"/>
      </a:accent1>
      <a:accent2>
        <a:srgbClr val="B8A03A"/>
      </a:accent2>
      <a:accent3>
        <a:srgbClr val="EA884A"/>
      </a:accent3>
      <a:accent4>
        <a:srgbClr val="EB4E52"/>
      </a:accent4>
      <a:accent5>
        <a:srgbClr val="EE6EA7"/>
      </a:accent5>
      <a:accent6>
        <a:srgbClr val="EB4ED5"/>
      </a:accent6>
      <a:hlink>
        <a:srgbClr val="7969AE"/>
      </a:hlink>
      <a:folHlink>
        <a:srgbClr val="7F7F7F"/>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docProps/app.xml><?xml version="1.0" encoding="utf-8"?>
<Properties xmlns="http://schemas.openxmlformats.org/officeDocument/2006/extended-properties" xmlns:vt="http://schemas.openxmlformats.org/officeDocument/2006/docPropsVTypes">
  <TotalTime>9427</TotalTime>
  <Words>1271</Words>
  <Application>Microsoft Macintosh PowerPoint</Application>
  <PresentationFormat>Widescreen</PresentationFormat>
  <Paragraphs>194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Avenir Next LT Pro</vt:lpstr>
      <vt:lpstr>Sabon Next LT</vt:lpstr>
      <vt:lpstr>Times New Roman</vt:lpstr>
      <vt:lpstr>Wingdings</vt:lpstr>
      <vt:lpstr>LuminousVTI</vt:lpstr>
      <vt:lpstr>MEDD8602  Practicum in Counselling and  Group Guidance  Introductory Meeting</vt:lpstr>
      <vt:lpstr>PowerPoint Presentation</vt:lpstr>
      <vt:lpstr>Greetings from your teachers</vt:lpstr>
      <vt:lpstr>PowerPoint Presentation</vt:lpstr>
      <vt:lpstr>The Supervision Groups</vt:lpstr>
      <vt:lpstr>Ms. Hillary Seto</vt:lpstr>
      <vt:lpstr>Mr. Keith Pang</vt:lpstr>
      <vt:lpstr>Dr. Peter Shea</vt:lpstr>
      <vt:lpstr>Dr. Matthew Chu</vt:lpstr>
      <vt:lpstr>Dr. Queenie Lee</vt:lpstr>
      <vt:lpstr>Course Matters</vt:lpstr>
      <vt:lpstr>Course Objectives </vt:lpstr>
      <vt:lpstr>Supervision Schedule</vt:lpstr>
      <vt:lpstr>Contact Hours</vt:lpstr>
      <vt:lpstr>Course Requirements </vt:lpstr>
      <vt:lpstr> Course Assessment Tasks</vt:lpstr>
      <vt:lpstr>2. Practicum Portfolio [30%, all or none] </vt:lpstr>
      <vt:lpstr>3. Reflection Paper [50%] </vt:lpstr>
      <vt:lpstr>Examples of “Critical Issues”</vt:lpstr>
      <vt:lpstr>Assessment Criteria  (Course Outline, p. 9)</vt:lpstr>
      <vt:lpstr>Important Ethical Considerations </vt:lpstr>
      <vt:lpstr>PowerPoint Presentation</vt:lpstr>
      <vt:lpstr>Professional Consultation</vt:lpstr>
      <vt:lpstr> Affiliations for Continuous Professional Development  </vt:lpstr>
      <vt:lpstr>PowerPoint Presentation</vt:lpstr>
      <vt:lpstr>PowerPoint Presentation</vt:lpstr>
      <vt:lpstr>Q and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MEDD8602  Practicum in Counselling and  Group Guidance</dc:title>
  <dc:creator>Queenie Lee</dc:creator>
  <cp:lastModifiedBy>Queenie Lee</cp:lastModifiedBy>
  <cp:revision>31</cp:revision>
  <dcterms:created xsi:type="dcterms:W3CDTF">2022-04-30T10:30:07Z</dcterms:created>
  <dcterms:modified xsi:type="dcterms:W3CDTF">2026-05-03T17:37:31Z</dcterms:modified>
</cp:coreProperties>
</file>